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9CA3AF"/>
                </a:solidFill>
              </a:rPr>
              <a:t>Qubits n (eje x), escala log (eje 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Intentos clásicos (N+1)/2</c:v>
                </c:pt>
              </c:strCache>
            </c:strRef>
          </c:tx>
          <c:spPr>
            <a:ln w="38100">
              <a:solidFill>
                <a:srgbClr val="22D3EE"/>
              </a:solidFill>
            </a:ln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2.5</c:v>
                </c:pt>
                <c:pt idx="1">
                  <c:v>4.5</c:v>
                </c:pt>
                <c:pt idx="2">
                  <c:v>8.5</c:v>
                </c:pt>
                <c:pt idx="3">
                  <c:v>16.5</c:v>
                </c:pt>
                <c:pt idx="4">
                  <c:v>32.5</c:v>
                </c:pt>
                <c:pt idx="5">
                  <c:v>64.5</c:v>
                </c:pt>
                <c:pt idx="6">
                  <c:v>128.5</c:v>
                </c:pt>
                <c:pt idx="7">
                  <c:v>256.5</c:v>
                </c:pt>
                <c:pt idx="8">
                  <c:v>512.5</c:v>
                </c:pt>
                <c:pt idx="9">
                  <c:v>1024.5</c:v>
                </c:pt>
                <c:pt idx="10">
                  <c:v>2048.5</c:v>
                </c:pt>
                <c:pt idx="11">
                  <c:v>4096.5</c:v>
                </c:pt>
                <c:pt idx="12">
                  <c:v>8192.5</c:v>
                </c:pt>
                <c:pt idx="13">
                  <c:v>16384.5</c:v>
                </c:pt>
                <c:pt idx="14">
                  <c:v>32768.5</c:v>
                </c:pt>
                <c:pt idx="15">
                  <c:v>65536.5</c:v>
                </c:pt>
                <c:pt idx="16">
                  <c:v>131072.5</c:v>
                </c:pt>
                <c:pt idx="17">
                  <c:v>262144.5</c:v>
                </c:pt>
                <c:pt idx="18">
                  <c:v>524288.5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Iteraciones Grover</c:v>
                </c:pt>
              </c:strCache>
            </c:strRef>
          </c:tx>
          <c:spPr>
            <a:ln w="38100">
              <a:solidFill>
                <a:srgbClr val="E879F9"/>
              </a:solidFill>
            </a:ln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12</c:v>
                </c:pt>
                <c:pt idx="7">
                  <c:v>17</c:v>
                </c:pt>
                <c:pt idx="8">
                  <c:v>25</c:v>
                </c:pt>
                <c:pt idx="9">
                  <c:v>35</c:v>
                </c:pt>
                <c:pt idx="10">
                  <c:v>50</c:v>
                </c:pt>
                <c:pt idx="11">
                  <c:v>71</c:v>
                </c:pt>
                <c:pt idx="12">
                  <c:v>100</c:v>
                </c:pt>
                <c:pt idx="13">
                  <c:v>142</c:v>
                </c:pt>
                <c:pt idx="14">
                  <c:v>201</c:v>
                </c:pt>
                <c:pt idx="15">
                  <c:v>284</c:v>
                </c:pt>
                <c:pt idx="16">
                  <c:v>402</c:v>
                </c:pt>
                <c:pt idx="17">
                  <c:v>568</c:v>
                </c:pt>
                <c:pt idx="18">
                  <c:v>804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>
              <a:solidFill>
                <a:srgbClr val="2A2D3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E5E7E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9CA3AF"/>
                </a:solidFill>
              </a:rPr>
              <a:t>Probabilidad de acertar (simulación FakeFez, no QPU)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Ideal (teoría)</c:v>
                </c:pt>
              </c:strCache>
            </c:strRef>
          </c:tx>
          <c:spPr>
            <a:solidFill>
              <a:srgbClr val="22D3EE"/>
            </a:solidFill>
          </c:spPr>
          <c:cat>
            <c:strRef>
              <c:f>Sheet1!$A$2:$A$5</c:f>
              <c:strCache>
                <c:ptCount val="4"/>
                <c:pt idx="0">
                  <c:v>n=3 (101)</c:v>
                </c:pt>
                <c:pt idx="1">
                  <c:v>n=4 (1010)</c:v>
                </c:pt>
                <c:pt idx="2">
                  <c:v>n=5 (10101)</c:v>
                </c:pt>
                <c:pt idx="3">
                  <c:v>n=6 (101010)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0.945</c:v>
                </c:pt>
                <c:pt idx="1">
                  <c:v>0.961</c:v>
                </c:pt>
                <c:pt idx="2">
                  <c:v>0.999</c:v>
                </c:pt>
                <c:pt idx="3">
                  <c:v>0.997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Medido en FakeFez</c:v>
                </c:pt>
              </c:strCache>
            </c:strRef>
          </c:tx>
          <c:spPr>
            <a:solidFill>
              <a:srgbClr val="E879F9"/>
            </a:solidFill>
          </c:spPr>
          <c:cat>
            <c:strRef>
              <c:f>Sheet1!$A$2:$A$5</c:f>
              <c:strCache>
                <c:ptCount val="4"/>
                <c:pt idx="0">
                  <c:v>n=3 (101)</c:v>
                </c:pt>
                <c:pt idx="1">
                  <c:v>n=4 (1010)</c:v>
                </c:pt>
                <c:pt idx="2">
                  <c:v>n=5 (10101)</c:v>
                </c:pt>
                <c:pt idx="3">
                  <c:v>n=6 (101010)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0.802</c:v>
                </c:pt>
                <c:pt idx="1">
                  <c:v>0.662</c:v>
                </c:pt>
                <c:pt idx="2">
                  <c:v>0.184</c:v>
                </c:pt>
                <c:pt idx="3">
                  <c:v>0.0166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Azar 1/N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Sheet1!$A$2:$A$5</c:f>
              <c:strCache>
                <c:ptCount val="4"/>
                <c:pt idx="0">
                  <c:v>n=3 (101)</c:v>
                </c:pt>
                <c:pt idx="1">
                  <c:v>n=4 (1010)</c:v>
                </c:pt>
                <c:pt idx="2">
                  <c:v>n=5 (10101)</c:v>
                </c:pt>
                <c:pt idx="3">
                  <c:v>n=6 (101010)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0.125</c:v>
                </c:pt>
                <c:pt idx="1">
                  <c:v>0.0625</c:v>
                </c:pt>
                <c:pt idx="2">
                  <c:v>0.031</c:v>
                </c:pt>
                <c:pt idx="3">
                  <c:v>0.0156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CA3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>
              <a:solidFill>
                <a:srgbClr val="2A2D3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CA3A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E5E7EB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7200" b="1">
                <a:solidFill>
                  <a:srgbClr val="22D3EE"/>
                </a:solidFill>
                <a:latin typeface="Consolas"/>
              </a:rPr>
              <a:t>QubitGuard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1828800" cy="73152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E5E7EB"/>
                </a:solidFill>
                <a:latin typeface="Calibri"/>
              </a:rPr>
              <a:t>Laboratorio educativo de ciberseguridad cuántica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E5E7EB"/>
                </a:solidFill>
                <a:latin typeface="Calibri"/>
              </a:rPr>
              <a:t>De Monte Carlo a Grover, jugando 3 minutos al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Consolas"/>
              </a:rPr>
              <a:t>IBM Quantum Hackathon / Qiskit Fall Fest 2026 Lima  |  Reto EdTech IEEE CS PUCP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2/8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219456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La probabilidad cuántica no se intuye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Las amplitudes pueden ser negativas y cancelarse; la estadística escolar no lo anticipa.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Falta algo que el estudiante pueda tocar y comparar contra el azar.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2194560"/>
          </a:xfrm>
          <a:prstGeom prst="rect">
            <a:avLst/>
          </a:prstGeom>
          <a:solidFill>
            <a:srgbClr val="141622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E879F9"/>
                </a:solidFill>
                <a:latin typeface="Calibri"/>
              </a:rPr>
              <a:t>Una amenaza mal contada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Se dice «romperá todas las contraseñas». Grover solo da mejora cuadrática; el riesgo real es Shor contra RSA/ECC y los datos que se guardan hoy (harvest now, decrypt later).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Pregunta de adivinar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Secreto entre N=16 candidatos: Monte Carlo espera (N+1)/2 = 8,5 intentos.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Grover lo encuentra con 3 iteraciones. ¿Cómo se siente esa diferencia?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Para quién: desde 14 años, unos 3 minutos al día, sin cuenta IBM ni instalar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Mapeo estadístico a cuántico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3/8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228600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Monte Carlo (clásico)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N = 2^n candidatos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Intentos esperados = (N+1)/2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Crece como 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2286000"/>
          </a:xfrm>
          <a:prstGeom prst="rect">
            <a:avLst/>
          </a:prstGeom>
          <a:solidFill>
            <a:srgbClr val="141622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E879F9"/>
                </a:solidFill>
                <a:latin typeface="Calibri"/>
              </a:rPr>
              <a:t>Grover (cuántico)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k = floor(π/4 · √N)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θ = asin(1/√N)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P(éxito) = sin²((2k+1)θ)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Crece como √N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Consolas"/>
              </a:rPr>
              <a:t>Ejemplo n=4 (N=16): clásico 8,5 intentos; Grover k=3, P teórica ≈ 96,1 %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Consolas"/>
              </a:rPr>
              <a:t>Mejora cuadrática, no exponencial.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Consolas"/>
              </a:rPr>
              <a:t>Eje del reto: distribuciones de probabilidad → superposición y amplitudes.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Consolas"/>
              </a:rPr>
              <a:t>Monte Carlo es aquí la referencia clásica: NO implementamos QAE.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Demo y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4/8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200400" cy="219456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TypeScript sin frameworks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ni dependencias de runtime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Explorador y contraseñas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solo en el navegador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2377440"/>
            <a:ext cx="457200" cy="411480"/>
          </a:xfrm>
          <a:prstGeom prst="rightArrow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200400" cy="2194560"/>
          </a:xfrm>
          <a:prstGeom prst="rect">
            <a:avLst/>
          </a:prstGeom>
          <a:solidFill>
            <a:srgbClr val="141622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E879F9"/>
                </a:solidFill>
                <a:latin typeface="Calibri"/>
              </a:rPr>
              <a:t>API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Cabeceras y CSP, caché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gzip, límite de 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simulaciones ruidosas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2377440"/>
            <a:ext cx="457200" cy="411480"/>
          </a:xfrm>
          <a:prstGeom prst="rightArrow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200400" cy="219456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Motor cuántico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Qiskit 2.6 + Aer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Ruido FakeFez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Statevector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Consolas"/>
              </a:rPr>
              <a:t>Laboratorio Grover 2..6 qubits: Predice, Observa, Explica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Consolas"/>
              </a:rPr>
              <a:t>Explorador de amplitudes en vivo (fórmulas exactas, sin servidor)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Consolas"/>
              </a:rPr>
              <a:t>Tu ruta (5 pasos) | Reto diario | Azar frente a Grover | Tu contraseña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Consolas"/>
              </a:rPr>
              <a:t>CLI scripts/run_ibm_hardware.py: fake | dry-run | ibm | --job-id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Consolas"/>
              </a:rPr>
              <a:t>Calidad: 67 pruebas pytest, 36 de frontend, objetivo WCAG 2.2 AA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Por qué Qiskit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Qiskit 2.6: circuitos oráculo + difusor, que se ejecutan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Qiskit Aer: disparos y ruido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FakeFez: ruido simulado de un backend IBM (no es hardware real)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Statevector: curva exacta sin²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transpile: profundidad y puertas de 2 qubits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qiskit-ibm-runtime: CLI listo para hardware, aún sin ejecutar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303520" y="1371600"/>
          <a:ext cx="64922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El ruido borra la amplificación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Mismo circuito del laboratorio, medido con el CLI en FakeFez (seed 7, 1024 disparos).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n=3: profundidad 137, 39 puertas de 2 qubits, éxito 0,802.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n=6: profundidad 4447, 1706 puertas, éxito 0,0166, igual que el azar (0,0156).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Al crecer el circuito, el ruido NISQ borra la ventaja.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Simulación: NO se ejecutó en hardware real. El CLI (dry-run / ibm) está listo; falta una cuenta.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303520" y="1371600"/>
          <a:ext cx="64922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Validación y limitaciones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7/8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438912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Medido (semilla fija)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Grover n=4, k=3, 2048 disparos: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medido 0,953 vs teórico 0,961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Curva Statevector vs fórmula: error 6e-14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Monte Carlo 10 bits: media 513,3 vs 512,5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FakeFez (CLI): 0,802 con n=3, 0,0166 con n=6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onsolas"/>
              </a:rPr>
              <a:t>67 pruebas pytest, 36 de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389120"/>
          </a:xfrm>
          <a:prstGeom prst="rect">
            <a:avLst/>
          </a:prstGeom>
          <a:solidFill>
            <a:srgbClr val="141622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E879F9"/>
                </a:solidFill>
                <a:latin typeface="Calibri"/>
              </a:rPr>
              <a:t>Limitaciones honestas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Ruido simulado (FakeFez): sin hardware real.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Grover es mejora cuadrática; no rompe AES hoy.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Simulación hasta 6 qubits; no hay QAE.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El oráculo ya conoce la respuesta.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Piloto con usuarios y retención: pendientes.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Impacto EdTech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>8/8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383280" cy="201168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22D3EE"/>
                </a:solidFill>
                <a:latin typeface="Consolas"/>
              </a:rPr>
              <a:t>14+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E5E7EB"/>
                </a:solidFill>
                <a:latin typeface="Calibri"/>
              </a:rPr>
              <a:t>años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2011680"/>
          </a:xfrm>
          <a:prstGeom prst="rect">
            <a:avLst/>
          </a:prstGeom>
          <a:solidFill>
            <a:srgbClr val="141622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E879F9"/>
                </a:solidFill>
                <a:latin typeface="Consolas"/>
              </a:rPr>
              <a:t>~3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E5E7EB"/>
                </a:solidFill>
                <a:latin typeface="Calibri"/>
              </a:rPr>
              <a:t>uso diario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383280" cy="2011680"/>
          </a:xfrm>
          <a:prstGeom prst="rect">
            <a:avLst/>
          </a:prstGeom>
          <a:solidFill>
            <a:srgbClr val="14162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22D3EE"/>
                </a:solidFill>
                <a:latin typeface="Consolas"/>
              </a:rPr>
              <a:t>5 pasos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E5E7EB"/>
                </a:solidFill>
                <a:latin typeface="Calibri"/>
              </a:rPr>
              <a:t>6 logros, racha, 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E5E7EB"/>
                </a:solidFill>
                <a:latin typeface="Calibri"/>
              </a:rPr>
              <a:t>Predice, Observa, Explica: te comprometes antes de mirar.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E5E7EB"/>
                </a:solidFill>
                <a:latin typeface="Calibri"/>
              </a:rPr>
              <a:t>Monte Carlo adivina. Grover amplifica. 3 minutos al día.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Calibri"/>
              </a:rPr>
              <a:t>Explorador de amplitudes en vivo y generador de contraseñas local (CSPRNG, sin semilla): 128 bits = 64 efectivos frente a Grover.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Consolas"/>
              </a:rPr>
              <a:t>Equipo: TODO (nombre del equipo)  |  Integrantes: TODO  |  Repo: 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