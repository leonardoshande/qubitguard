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>
                <a:solidFill>
                  <a:srgbClr val="9CA3AF"/>
                </a:solidFill>
              </a:rPr>
              <a:t>Qubits n (eje x), escala log (eje y)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Intentos clásicos (N+1)/2</c:v>
                </c:pt>
              </c:strCache>
            </c:strRef>
          </c:tx>
          <c:spPr>
            <a:ln w="38100">
              <a:solidFill>
                <a:srgbClr val="22D3EE"/>
              </a:solidFill>
            </a:ln>
          </c:spPr>
          <c:marker>
            <c:symbol val="none"/>
          </c:marker>
          <c:cat>
            <c:strRef>
              <c:f>Sheet1!$A$2:$A$20</c:f>
              <c:strCache>
                <c:ptCount val="1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11</c:v>
                </c:pt>
                <c:pt idx="10">
                  <c:v>12</c:v>
                </c:pt>
                <c:pt idx="11">
                  <c:v>13</c:v>
                </c:pt>
                <c:pt idx="12">
                  <c:v>14</c:v>
                </c:pt>
                <c:pt idx="13">
                  <c:v>15</c:v>
                </c:pt>
                <c:pt idx="14">
                  <c:v>16</c:v>
                </c:pt>
                <c:pt idx="15">
                  <c:v>17</c:v>
                </c:pt>
                <c:pt idx="16">
                  <c:v>18</c:v>
                </c:pt>
                <c:pt idx="17">
                  <c:v>19</c:v>
                </c:pt>
                <c:pt idx="18">
                  <c:v>20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2.5</c:v>
                </c:pt>
                <c:pt idx="1">
                  <c:v>4.5</c:v>
                </c:pt>
                <c:pt idx="2">
                  <c:v>8.5</c:v>
                </c:pt>
                <c:pt idx="3">
                  <c:v>16.5</c:v>
                </c:pt>
                <c:pt idx="4">
                  <c:v>32.5</c:v>
                </c:pt>
                <c:pt idx="5">
                  <c:v>64.5</c:v>
                </c:pt>
                <c:pt idx="6">
                  <c:v>128.5</c:v>
                </c:pt>
                <c:pt idx="7">
                  <c:v>256.5</c:v>
                </c:pt>
                <c:pt idx="8">
                  <c:v>512.5</c:v>
                </c:pt>
                <c:pt idx="9">
                  <c:v>1024.5</c:v>
                </c:pt>
                <c:pt idx="10">
                  <c:v>2048.5</c:v>
                </c:pt>
                <c:pt idx="11">
                  <c:v>4096.5</c:v>
                </c:pt>
                <c:pt idx="12">
                  <c:v>8192.5</c:v>
                </c:pt>
                <c:pt idx="13">
                  <c:v>16384.5</c:v>
                </c:pt>
                <c:pt idx="14">
                  <c:v>32768.5</c:v>
                </c:pt>
                <c:pt idx="15">
                  <c:v>65536.5</c:v>
                </c:pt>
                <c:pt idx="16">
                  <c:v>131072.5</c:v>
                </c:pt>
                <c:pt idx="17">
                  <c:v>262144.5</c:v>
                </c:pt>
                <c:pt idx="18">
                  <c:v>524288.5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Iteraciones Grover</c:v>
                </c:pt>
              </c:strCache>
            </c:strRef>
          </c:tx>
          <c:spPr>
            <a:ln w="38100">
              <a:solidFill>
                <a:srgbClr val="E879F9"/>
              </a:solidFill>
            </a:ln>
          </c:spPr>
          <c:marker>
            <c:symbol val="none"/>
          </c:marker>
          <c:cat>
            <c:strRef>
              <c:f>Sheet1!$A$2:$A$20</c:f>
              <c:strCache>
                <c:ptCount val="1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11</c:v>
                </c:pt>
                <c:pt idx="10">
                  <c:v>12</c:v>
                </c:pt>
                <c:pt idx="11">
                  <c:v>13</c:v>
                </c:pt>
                <c:pt idx="12">
                  <c:v>14</c:v>
                </c:pt>
                <c:pt idx="13">
                  <c:v>15</c:v>
                </c:pt>
                <c:pt idx="14">
                  <c:v>16</c:v>
                </c:pt>
                <c:pt idx="15">
                  <c:v>17</c:v>
                </c:pt>
                <c:pt idx="16">
                  <c:v>18</c:v>
                </c:pt>
                <c:pt idx="17">
                  <c:v>19</c:v>
                </c:pt>
                <c:pt idx="18">
                  <c:v>20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  <c:pt idx="5">
                  <c:v>8</c:v>
                </c:pt>
                <c:pt idx="6">
                  <c:v>12</c:v>
                </c:pt>
                <c:pt idx="7">
                  <c:v>17</c:v>
                </c:pt>
                <c:pt idx="8">
                  <c:v>25</c:v>
                </c:pt>
                <c:pt idx="9">
                  <c:v>35</c:v>
                </c:pt>
                <c:pt idx="10">
                  <c:v>50</c:v>
                </c:pt>
                <c:pt idx="11">
                  <c:v>71</c:v>
                </c:pt>
                <c:pt idx="12">
                  <c:v>100</c:v>
                </c:pt>
                <c:pt idx="13">
                  <c:v>142</c:v>
                </c:pt>
                <c:pt idx="14">
                  <c:v>201</c:v>
                </c:pt>
                <c:pt idx="15">
                  <c:v>284</c:v>
                </c:pt>
                <c:pt idx="16">
                  <c:v>402</c:v>
                </c:pt>
                <c:pt idx="17">
                  <c:v>568</c:v>
                </c:pt>
                <c:pt idx="18">
                  <c:v>804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9CA3A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2A2D3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9CA3A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>
              <a:solidFill>
                <a:srgbClr val="E5E7EB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7200" b="1">
                <a:solidFill>
                  <a:srgbClr val="22D3EE"/>
                </a:solidFill>
                <a:latin typeface="Consolas"/>
              </a:rPr>
              <a:t>QubitGuard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1828800" cy="73152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E5E7EB"/>
                </a:solidFill>
                <a:latin typeface="Calibri"/>
              </a:rPr>
              <a:t>Laboratorio educativo de ciberseguridad cuántica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E5E7EB"/>
                </a:solidFill>
                <a:latin typeface="Calibri"/>
              </a:rPr>
              <a:t>De Monte Carlo a Grover, jugando 3 minutos al 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9CA3AF"/>
                </a:solidFill>
                <a:latin typeface="Consolas"/>
              </a:rPr>
              <a:t>IBM Quantum Hackathon / Qiskit Fall Fest 2026 Lima  |  Reto EdTech IEEE CS PUCP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El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2/8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Enseñar lo cuántico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Se explica como magia o como fórmulas sin intuición.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Falta algo que el estudiante pueda tocar y comparar contra el azar.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Una amenaza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Datos cifrados hoy pueden guardarse y descifrarse mañana (harvest now, decrypt later).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1064240" cy="182880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59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Pregunta de adivinar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Secreto entre N=16 candidatos: Monte Carlo espera (N+1)/2 = 8,5 intentos.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Grover lo encuentra con 3 iteraciones. ¿Cómo se siente esa diferencia?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Mapeo estadístico a cuántico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3/8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228600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Monte Carlo (clásico)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N = 2^n candidatos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Intentos esperados = (N+1)/2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Crece como 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228600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Grover (cuántico)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k = floor(π/4 · √N)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θ = asin(1/√N)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P(éxito) = sin²((2k+1)θ)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Crece como √N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onsolas"/>
              </a:rPr>
              <a:t>Ejemplo n=4 (N=16)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onsolas"/>
              </a:rPr>
              <a:t>Clásico: 8,5 intentos esperados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onsolas"/>
              </a:rPr>
              <a:t>Grover: k=3 iteraciones, P teórica ≈ 96,1 %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onsolas"/>
              </a:rPr>
              <a:t>Mejora cuadrática, no exponencial.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Demo y 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4/8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20040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HTML/CSS/TypeScript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sin frameworks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Analizador local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0480" y="2377440"/>
            <a:ext cx="457200" cy="411480"/>
          </a:xfrm>
          <a:prstGeom prst="rightArrow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320040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API FastAPI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Endpoints de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experimentos y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reto diario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80960" y="2377440"/>
            <a:ext cx="457200" cy="411480"/>
          </a:xfrm>
          <a:prstGeom prst="rightArrow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63040"/>
            <a:ext cx="320040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Motor cuántico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574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Qiskit 2.6 + Aer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Ruido FakeFez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Statevector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Secciones: reto diario (racha, XP, niveles) | laboratorio Grover 2..6 qubits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histograma + curva sin² exacta + circuito | Monte Carlo vs Grover con tabla de speedup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criptografía poscuántica | limitaciones honestas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Calidad: tests pytest y CI en GitHub Actions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Por qué Qiskit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Qiskit 2.6: circuitos oráculo + difusor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Qiskit Aer: disparos y ruido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FakeFez: ruido simulado de un backend IBM (no es hardware real)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Statevector: curva exacta sin²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qiskit-ibm-runtime: listo para hardware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303520" y="1371600"/>
          <a:ext cx="64922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Privacidad y criptografía poscuántica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6/8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Privacidad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El analizador de contraseñas corre 100 % en el navegador.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La contraseña nunca va al backend.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Un test de privacidad lo comprueba.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Poscuántica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Grover vs AES: mejora cuadrática, se compensa con claves más largas.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Shor vs RSA/ECC: ruptura, hay que migrar.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NIST FIPS 203 / 204 / 205.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Harvest now, decrypt later.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Limitaciones y validación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7/8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Limitaciones honestas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Ruido simulado (FakeFez), no hardware real.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Grover es mejora cuadrática; no rompe AES hoy.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Simulación hasta 6 qubits (crece exponencial).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El ruido baja la P real frente a la teoría.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Validación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Resultados medidos comparados con sin²((2k+1)θ) calculada con Statevector.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Tests pytest y CI en GitHub Actions.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Piloto de retención en aula: pendiente.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Impacto EdTech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8/8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38328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22D3EE"/>
                </a:solidFill>
                <a:latin typeface="Consolas"/>
              </a:rPr>
              <a:t>14+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alibri"/>
              </a:rPr>
              <a:t>años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463040"/>
            <a:ext cx="338328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E879F9"/>
                </a:solidFill>
                <a:latin typeface="Consolas"/>
              </a:rPr>
              <a:t>~3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alibri"/>
              </a:rPr>
              <a:t>uso diario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463040"/>
            <a:ext cx="338328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22D3EE"/>
                </a:solidFill>
                <a:latin typeface="Consolas"/>
              </a:rPr>
              <a:t>racha / XP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743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alibri"/>
              </a:rPr>
              <a:t>niveles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404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5E7EB"/>
                </a:solidFill>
                <a:latin typeface="Calibri"/>
              </a:rPr>
              <a:t>Monte Carlo adivina. Grover amplifica.</a:t>
            </a:r>
          </a:p>
          <a:p>
            <a:pPr>
              <a:spcAft>
                <a:spcPts val="600"/>
              </a:spcAft>
            </a:pPr>
            <a:r>
              <a:rPr sz="2400" b="1">
                <a:solidFill>
                  <a:srgbClr val="E5E7EB"/>
                </a:solidFill>
                <a:latin typeface="Calibri"/>
              </a:rPr>
              <a:t>QubitGuard te deja sentir la diferencia en 3 minutos al día.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9CA3AF"/>
                </a:solidFill>
                <a:latin typeface="Consolas"/>
              </a:rPr>
              <a:t>Equipo: TODO (nombre del equipo)  |  Integrantes: TODO  |  Repo: TODO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