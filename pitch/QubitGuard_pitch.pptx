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>
                <a:solidFill>
                  <a:srgbClr val="9CA3AF"/>
                </a:solidFill>
              </a:rPr>
              <a:t>Qubits n (eje x), escala log (eje y)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Intentos clásicos (N+1)/2</c:v>
                </c:pt>
              </c:strCache>
            </c:strRef>
          </c:tx>
          <c:spPr>
            <a:ln w="38100">
              <a:solidFill>
                <a:srgbClr val="22D3EE"/>
              </a:solidFill>
            </a:ln>
          </c:spPr>
          <c:marker>
            <c:symbol val="none"/>
          </c:marker>
          <c:cat>
            <c:strRef>
              <c:f>Sheet1!$A$2:$A$20</c:f>
              <c:strCache>
                <c:ptCount val="19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  <c:pt idx="9">
                  <c:v>11</c:v>
                </c:pt>
                <c:pt idx="10">
                  <c:v>12</c:v>
                </c:pt>
                <c:pt idx="11">
                  <c:v>13</c:v>
                </c:pt>
                <c:pt idx="12">
                  <c:v>14</c:v>
                </c:pt>
                <c:pt idx="13">
                  <c:v>15</c:v>
                </c:pt>
                <c:pt idx="14">
                  <c:v>16</c:v>
                </c:pt>
                <c:pt idx="15">
                  <c:v>17</c:v>
                </c:pt>
                <c:pt idx="16">
                  <c:v>18</c:v>
                </c:pt>
                <c:pt idx="17">
                  <c:v>19</c:v>
                </c:pt>
                <c:pt idx="18">
                  <c:v>20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2.5</c:v>
                </c:pt>
                <c:pt idx="1">
                  <c:v>4.5</c:v>
                </c:pt>
                <c:pt idx="2">
                  <c:v>8.5</c:v>
                </c:pt>
                <c:pt idx="3">
                  <c:v>16.5</c:v>
                </c:pt>
                <c:pt idx="4">
                  <c:v>32.5</c:v>
                </c:pt>
                <c:pt idx="5">
                  <c:v>64.5</c:v>
                </c:pt>
                <c:pt idx="6">
                  <c:v>128.5</c:v>
                </c:pt>
                <c:pt idx="7">
                  <c:v>256.5</c:v>
                </c:pt>
                <c:pt idx="8">
                  <c:v>512.5</c:v>
                </c:pt>
                <c:pt idx="9">
                  <c:v>1024.5</c:v>
                </c:pt>
                <c:pt idx="10">
                  <c:v>2048.5</c:v>
                </c:pt>
                <c:pt idx="11">
                  <c:v>4096.5</c:v>
                </c:pt>
                <c:pt idx="12">
                  <c:v>8192.5</c:v>
                </c:pt>
                <c:pt idx="13">
                  <c:v>16384.5</c:v>
                </c:pt>
                <c:pt idx="14">
                  <c:v>32768.5</c:v>
                </c:pt>
                <c:pt idx="15">
                  <c:v>65536.5</c:v>
                </c:pt>
                <c:pt idx="16">
                  <c:v>131072.5</c:v>
                </c:pt>
                <c:pt idx="17">
                  <c:v>262144.5</c:v>
                </c:pt>
                <c:pt idx="18">
                  <c:v>524288.5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Iteraciones Grover</c:v>
                </c:pt>
              </c:strCache>
            </c:strRef>
          </c:tx>
          <c:spPr>
            <a:ln w="38100">
              <a:solidFill>
                <a:srgbClr val="E879F9"/>
              </a:solidFill>
            </a:ln>
          </c:spPr>
          <c:marker>
            <c:symbol val="none"/>
          </c:marker>
          <c:cat>
            <c:strRef>
              <c:f>Sheet1!$A$2:$A$20</c:f>
              <c:strCache>
                <c:ptCount val="19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  <c:pt idx="9">
                  <c:v>11</c:v>
                </c:pt>
                <c:pt idx="10">
                  <c:v>12</c:v>
                </c:pt>
                <c:pt idx="11">
                  <c:v>13</c:v>
                </c:pt>
                <c:pt idx="12">
                  <c:v>14</c:v>
                </c:pt>
                <c:pt idx="13">
                  <c:v>15</c:v>
                </c:pt>
                <c:pt idx="14">
                  <c:v>16</c:v>
                </c:pt>
                <c:pt idx="15">
                  <c:v>17</c:v>
                </c:pt>
                <c:pt idx="16">
                  <c:v>18</c:v>
                </c:pt>
                <c:pt idx="17">
                  <c:v>19</c:v>
                </c:pt>
                <c:pt idx="18">
                  <c:v>20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  <c:pt idx="5">
                  <c:v>8</c:v>
                </c:pt>
                <c:pt idx="6">
                  <c:v>12</c:v>
                </c:pt>
                <c:pt idx="7">
                  <c:v>17</c:v>
                </c:pt>
                <c:pt idx="8">
                  <c:v>25</c:v>
                </c:pt>
                <c:pt idx="9">
                  <c:v>35</c:v>
                </c:pt>
                <c:pt idx="10">
                  <c:v>50</c:v>
                </c:pt>
                <c:pt idx="11">
                  <c:v>71</c:v>
                </c:pt>
                <c:pt idx="12">
                  <c:v>100</c:v>
                </c:pt>
                <c:pt idx="13">
                  <c:v>142</c:v>
                </c:pt>
                <c:pt idx="14">
                  <c:v>201</c:v>
                </c:pt>
                <c:pt idx="15">
                  <c:v>284</c:v>
                </c:pt>
                <c:pt idx="16">
                  <c:v>402</c:v>
                </c:pt>
                <c:pt idx="17">
                  <c:v>568</c:v>
                </c:pt>
                <c:pt idx="18">
                  <c:v>804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9CA3AF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</c:scaling>
        <c:delete val="0"/>
        <c:axPos val="l"/>
        <c:majorGridlines>
          <c:spPr>
            <a:ln>
              <a:solidFill>
                <a:srgbClr val="2A2D3A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9CA3AF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>
              <a:solidFill>
                <a:srgbClr val="E5E7EB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7200" b="1">
                <a:solidFill>
                  <a:srgbClr val="22D3EE"/>
                </a:solidFill>
                <a:latin typeface="Consolas"/>
              </a:rPr>
              <a:t>QubitGuard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1828800" cy="73152"/>
          </a:xfrm>
          <a:prstGeom prst="rect">
            <a:avLst/>
          </a:prstGeom>
          <a:solidFill>
            <a:srgbClr val="E87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0">
                <a:solidFill>
                  <a:srgbClr val="E5E7EB"/>
                </a:solidFill>
                <a:latin typeface="Calibri"/>
              </a:rPr>
              <a:t>Laboratorio educativo de ciberseguridad cuántica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E5E7EB"/>
                </a:solidFill>
                <a:latin typeface="Calibri"/>
              </a:rPr>
              <a:t>De Monte Carlo a Grover, jugando 3 minutos al día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7607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9CA3AF"/>
                </a:solidFill>
                <a:latin typeface="Consolas"/>
              </a:rPr>
              <a:t>IBM Quantum Hackathon / Qiskit Fall Fest 2026 Lima  |  Reto EdTech IEEE CS PUCP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22D3EE"/>
                </a:solidFill>
                <a:latin typeface="Calibri"/>
              </a:rPr>
              <a:t>El problema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E87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>2/8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394960" cy="2194560"/>
          </a:xfrm>
          <a:prstGeom prst="rect">
            <a:avLst/>
          </a:prstGeom>
          <a:solidFill>
            <a:srgbClr val="14162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22D3EE"/>
                </a:solidFill>
                <a:latin typeface="Calibri"/>
              </a:rPr>
              <a:t>Enseñar lo cuántico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5029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Se explica como magia o como fórmulas sin intuición.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Falta algo que el estudiante pueda tocar y comparar contra el azar.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463040"/>
            <a:ext cx="5394960" cy="2194560"/>
          </a:xfrm>
          <a:prstGeom prst="rect">
            <a:avLst/>
          </a:prstGeom>
          <a:solidFill>
            <a:srgbClr val="141622"/>
          </a:solidFill>
          <a:ln w="19050">
            <a:solidFill>
              <a:srgbClr val="E879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E879F9"/>
                </a:solidFill>
                <a:latin typeface="Calibri"/>
              </a:rPr>
              <a:t>Una amenaza real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5029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Datos cifrados hoy pueden guardarse y descifrarse mañana (harvest now, decrypt later).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31920"/>
            <a:ext cx="11064240" cy="1828800"/>
          </a:xfrm>
          <a:prstGeom prst="rect">
            <a:avLst/>
          </a:prstGeom>
          <a:solidFill>
            <a:srgbClr val="14162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023359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22D3EE"/>
                </a:solidFill>
                <a:latin typeface="Calibri"/>
              </a:rPr>
              <a:t>Pregunta de adivinar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2628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Secreto entre N=16 candidatos: Monte Carlo espera (N+1)/2 = 8,5 intentos.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Grover lo encuentra con 3 iteraciones. ¿Cómo se siente esa diferencia?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22D3EE"/>
                </a:solidFill>
                <a:latin typeface="Calibri"/>
              </a:rPr>
              <a:t>Mapeo estadístico a cuántico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E87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>3/8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394960" cy="2286000"/>
          </a:xfrm>
          <a:prstGeom prst="rect">
            <a:avLst/>
          </a:prstGeom>
          <a:solidFill>
            <a:srgbClr val="14162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22D3EE"/>
                </a:solidFill>
                <a:latin typeface="Calibri"/>
              </a:rPr>
              <a:t>Monte Carlo (clásico)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onsolas"/>
              </a:rPr>
              <a:t>N = 2^n candidatos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onsolas"/>
              </a:rPr>
              <a:t>Intentos esperados = (N+1)/2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onsolas"/>
              </a:rPr>
              <a:t>Crece como N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463040"/>
            <a:ext cx="5394960" cy="2286000"/>
          </a:xfrm>
          <a:prstGeom prst="rect">
            <a:avLst/>
          </a:prstGeom>
          <a:solidFill>
            <a:srgbClr val="141622"/>
          </a:solidFill>
          <a:ln w="19050">
            <a:solidFill>
              <a:srgbClr val="E879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E879F9"/>
                </a:solidFill>
                <a:latin typeface="Calibri"/>
              </a:rPr>
              <a:t>Grover (cuántico)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onsolas"/>
              </a:rPr>
              <a:t>k = floor(π/4 · √N)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onsolas"/>
              </a:rPr>
              <a:t>θ = asin(1/√N)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onsolas"/>
              </a:rPr>
              <a:t>P(éxito) = sin²((2k+1)θ)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onsolas"/>
              </a:rPr>
              <a:t>Crece como √N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023360"/>
            <a:ext cx="11064240" cy="2011680"/>
          </a:xfrm>
          <a:prstGeom prst="rect">
            <a:avLst/>
          </a:prstGeom>
          <a:solidFill>
            <a:srgbClr val="14162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1148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E5E7EB"/>
                </a:solidFill>
                <a:latin typeface="Consolas"/>
              </a:rPr>
              <a:t>Ejemplo n=4 (N=16)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E5E7EB"/>
                </a:solidFill>
                <a:latin typeface="Consolas"/>
              </a:rPr>
              <a:t>Clásico: 8,5 intentos esperados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E5E7EB"/>
                </a:solidFill>
                <a:latin typeface="Consolas"/>
              </a:rPr>
              <a:t>Grover: k=3 iteraciones, P teórica ≈ 96,1 %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E5E7EB"/>
                </a:solidFill>
                <a:latin typeface="Consolas"/>
              </a:rPr>
              <a:t>Mejora cuadrática, no exponencial.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22D3EE"/>
                </a:solidFill>
                <a:latin typeface="Calibri"/>
              </a:rPr>
              <a:t>Demo y arquitectura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E87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>4/8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200400" cy="2194560"/>
          </a:xfrm>
          <a:prstGeom prst="rect">
            <a:avLst/>
          </a:prstGeom>
          <a:solidFill>
            <a:srgbClr val="14162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22D3EE"/>
                </a:solidFill>
                <a:latin typeface="Calibri"/>
              </a:rPr>
              <a:t>Frontend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2834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TypeScript sin frameworks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ni dependencias de runtime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Contraseñas solo aquí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40480" y="2377440"/>
            <a:ext cx="457200" cy="411480"/>
          </a:xfrm>
          <a:prstGeom prst="rightArrow">
            <a:avLst/>
          </a:prstGeom>
          <a:solidFill>
            <a:srgbClr val="E87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463040"/>
            <a:ext cx="3200400" cy="2194560"/>
          </a:xfrm>
          <a:prstGeom prst="rect">
            <a:avLst/>
          </a:prstGeom>
          <a:solidFill>
            <a:srgbClr val="141622"/>
          </a:solidFill>
          <a:ln w="19050">
            <a:solidFill>
              <a:srgbClr val="E879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5544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E879F9"/>
                </a:solidFill>
                <a:latin typeface="Calibri"/>
              </a:rPr>
              <a:t>API FastAPI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057400"/>
            <a:ext cx="2834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Cabeceras y CSP, caché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gzip, límite de 2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simulaciones ruidosas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680960" y="2377440"/>
            <a:ext cx="457200" cy="411480"/>
          </a:xfrm>
          <a:prstGeom prst="rightArrow">
            <a:avLst/>
          </a:prstGeom>
          <a:solidFill>
            <a:srgbClr val="E87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463040"/>
            <a:ext cx="3200400" cy="2194560"/>
          </a:xfrm>
          <a:prstGeom prst="rect">
            <a:avLst/>
          </a:prstGeom>
          <a:solidFill>
            <a:srgbClr val="14162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5544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22D3EE"/>
                </a:solidFill>
                <a:latin typeface="Calibri"/>
              </a:rPr>
              <a:t>Motor cuántico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057400"/>
            <a:ext cx="2834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Qiskit 2.6 + Aer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Ruido FakeFez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Statevector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0233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E5E7EB"/>
                </a:solidFill>
                <a:latin typeface="Consolas"/>
              </a:rPr>
              <a:t>Laboratorio Grover 2..6 qubits: Predice, Observa, Explica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E5E7EB"/>
                </a:solidFill>
                <a:latin typeface="Consolas"/>
              </a:rPr>
              <a:t>histograma + curva sin² exacta + circuito + ruido FakeFez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E5E7EB"/>
                </a:solidFill>
                <a:latin typeface="Consolas"/>
              </a:rPr>
              <a:t>Tu ruta (5 pasos) | Reto diario | Azar frente a Grover | Tu contraseña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E5E7EB"/>
                </a:solidFill>
                <a:latin typeface="Consolas"/>
              </a:rPr>
              <a:t>Calidad: 42 pruebas pytest, 23 de frontend, WCAG 2.2 AA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22D3EE"/>
                </a:solidFill>
                <a:latin typeface="Calibri"/>
              </a:rPr>
              <a:t>Por qué Qiskit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E87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E5E7EB"/>
                </a:solidFill>
                <a:latin typeface="Calibri"/>
              </a:rPr>
              <a:t>Qiskit 2.6: circuitos oráculo + difusor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E5E7EB"/>
                </a:solidFill>
                <a:latin typeface="Calibri"/>
              </a:rPr>
              <a:t>Qiskit Aer: disparos y ruido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E5E7EB"/>
                </a:solidFill>
                <a:latin typeface="Calibri"/>
              </a:rPr>
              <a:t>FakeFez: ruido simulado de un backend IBM (no es hardware real)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E5E7EB"/>
                </a:solidFill>
                <a:latin typeface="Calibri"/>
              </a:rPr>
              <a:t>Statevector: curva exacta sin²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E5E7EB"/>
                </a:solidFill>
                <a:latin typeface="Calibri"/>
              </a:rPr>
              <a:t>qiskit-ibm-runtime: listo para hardware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303520" y="1371600"/>
          <a:ext cx="649224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22D3EE"/>
                </a:solidFill>
                <a:latin typeface="Calibri"/>
              </a:rPr>
              <a:t>Seguridad, generador y poscuántica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E87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>6/8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394960" cy="4389120"/>
          </a:xfrm>
          <a:prstGeom prst="rect">
            <a:avLst/>
          </a:prstGeom>
          <a:solidFill>
            <a:srgbClr val="14162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22D3EE"/>
                </a:solidFill>
                <a:latin typeface="Calibri"/>
              </a:rPr>
              <a:t>Generador en el navegador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crypto.getRandomValues, sin semilla: el código es público y aun así no se puede reproducir.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Caracteres, frase (2072 palabras) o mejorar la mía.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Meta resistente a Grover: 128 bits (64 efectivos).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La contraseña nunca va al backend; un test lo comprueba.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463040"/>
            <a:ext cx="5394960" cy="4389120"/>
          </a:xfrm>
          <a:prstGeom prst="rect">
            <a:avLst/>
          </a:prstGeom>
          <a:solidFill>
            <a:srgbClr val="141622"/>
          </a:solidFill>
          <a:ln w="19050">
            <a:solidFill>
              <a:srgbClr val="E879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E879F9"/>
                </a:solidFill>
                <a:latin typeface="Calibri"/>
              </a:rPr>
              <a:t>Seguridad y poscuántica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CSP default-src 'self', solo archivos públicos, gzip y caché.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Máximo 2 simulaciones ruidosas a la vez (503 + Retry-After).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Funciona sin internet; demo con Cloudflare Tunnel.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Grover vs AES: claves más largas. Shor vs RSA/ECC: migrar a NIST FIPS 203 / 204 / 205.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22D3EE"/>
                </a:solidFill>
                <a:latin typeface="Calibri"/>
              </a:rPr>
              <a:t>Validación y limitaciones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E87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>7/8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394960" cy="4389120"/>
          </a:xfrm>
          <a:prstGeom prst="rect">
            <a:avLst/>
          </a:prstGeom>
          <a:solidFill>
            <a:srgbClr val="14162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22D3EE"/>
                </a:solidFill>
                <a:latin typeface="Calibri"/>
              </a:rPr>
              <a:t>Medido (semilla fija)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onsolas"/>
              </a:rPr>
              <a:t>Grover n=4, k=3, 2048 disparos: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onsolas"/>
              </a:rPr>
              <a:t>medido 0,954 vs teórico 0,961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onsolas"/>
              </a:rPr>
              <a:t>Curva Statevector vs fórmula: error 6e-14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onsolas"/>
              </a:rPr>
              <a:t>FakeFez n=6: éxito 0,031 ≈ azar (1/64)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onsolas"/>
              </a:rPr>
              <a:t>Monte Carlo 10 bits: media 513,3 vs 512,5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463040"/>
            <a:ext cx="5394960" cy="4389120"/>
          </a:xfrm>
          <a:prstGeom prst="rect">
            <a:avLst/>
          </a:prstGeom>
          <a:solidFill>
            <a:srgbClr val="141622"/>
          </a:solidFill>
          <a:ln w="19050">
            <a:solidFill>
              <a:srgbClr val="E879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E879F9"/>
                </a:solidFill>
                <a:latin typeface="Calibri"/>
              </a:rPr>
              <a:t>Limitaciones honestas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Ruido simulado (FakeFez), no hardware real.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Grover es mejora cuadrática; no rompe AES hoy.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Simulación hasta 6 qubits (crece exponencial).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El ruido borra la amplificación.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Retención en aula: sin medir todavía.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22D3EE"/>
                </a:solidFill>
                <a:latin typeface="Calibri"/>
              </a:rPr>
              <a:t>Impacto EdTech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E87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>8/8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383280" cy="2011680"/>
          </a:xfrm>
          <a:prstGeom prst="rect">
            <a:avLst/>
          </a:prstGeom>
          <a:solidFill>
            <a:srgbClr val="14162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22D3EE"/>
                </a:solidFill>
                <a:latin typeface="Consolas"/>
              </a:rPr>
              <a:t>14+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E5E7EB"/>
                </a:solidFill>
                <a:latin typeface="Calibri"/>
              </a:rPr>
              <a:t>años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463040"/>
            <a:ext cx="3383280" cy="2011680"/>
          </a:xfrm>
          <a:prstGeom prst="rect">
            <a:avLst/>
          </a:prstGeom>
          <a:solidFill>
            <a:srgbClr val="141622"/>
          </a:solidFill>
          <a:ln w="19050">
            <a:solidFill>
              <a:srgbClr val="E879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459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E879F9"/>
                </a:solidFill>
                <a:latin typeface="Consolas"/>
              </a:rPr>
              <a:t>~3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7432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E5E7EB"/>
                </a:solidFill>
                <a:latin typeface="Calibri"/>
              </a:rPr>
              <a:t>uso diario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463040"/>
            <a:ext cx="3383280" cy="2011680"/>
          </a:xfrm>
          <a:prstGeom prst="rect">
            <a:avLst/>
          </a:prstGeom>
          <a:solidFill>
            <a:srgbClr val="14162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16459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22D3EE"/>
                </a:solidFill>
                <a:latin typeface="Consolas"/>
              </a:rPr>
              <a:t>5 pasos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7432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E5E7EB"/>
                </a:solidFill>
                <a:latin typeface="Calibri"/>
              </a:rPr>
              <a:t>6 logros, racha, XP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84048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E5E7EB"/>
                </a:solidFill>
                <a:latin typeface="Calibri"/>
              </a:rPr>
              <a:t>Predice, Observa, Explica: te comprometes antes de mirar.</a:t>
            </a:r>
          </a:p>
          <a:p>
            <a:pPr>
              <a:spcAft>
                <a:spcPts val="600"/>
              </a:spcAft>
            </a:pPr>
            <a:r>
              <a:rPr sz="2400" b="1">
                <a:solidFill>
                  <a:srgbClr val="E5E7EB"/>
                </a:solidFill>
                <a:latin typeface="Calibri"/>
              </a:rPr>
              <a:t>Monte Carlo adivina. Grover amplifica. 3 minutos al día.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3949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9CA3AF"/>
                </a:solidFill>
                <a:latin typeface="Consolas"/>
              </a:rPr>
              <a:t>Equipo: TODO (nombre del equipo)  |  Integrantes: TODO  |  Repo: TODO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