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Expone A. Idea clave: QubitGuard es un laboratorio para aprender probabilidad cuántica prediciendo y ejecutando circuitos Qiskit.</a:t>
            </a:r>
          </a:p>
          <a:p>
            <a:r>
              <a:t>Presentar equipo, reto 5.3 EdTech y la pregunta guía: ¿cuántos intentos hacen falta para encontrar un secreto?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Expone A. Idea clave: la probabilidad cuántica no se intuye y la amenaza cuántica se explica con alarmismo.</a:t>
            </a:r>
          </a:p>
          <a:p>
            <a:r>
              <a:t>Público: desde 14 años, unos 3 minutos al día. La captura muestra cómo la app plantea problema y solución.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Expone A. Idea clave: un qubit está en superposición; al medir sale 0 o 1 con probabilidad = amplitud al cuadrado.</a:t>
            </a:r>
          </a:p>
          <a:p>
            <a:r>
              <a:t>Ejemplo: 0,6 y 0,8 dan 36 % y 64 %. Las amplitudes pueden cancelarse: eso es lo que Grover aprovecha.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Expone B. Idea clave: Qiskit es el kit de IBM, de código abierto, para construir, optimizar y ejecutar circuitos.</a:t>
            </a:r>
          </a:p>
          <a:p>
            <a:r>
              <a:t>Recorrer el flujo de 4 pasos y aterrizarlo en QubitGuard: n=4, estado 1010, k=3, 2048 shots, 0,953 medido frente a 0,961 teórico.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Expone B. Idea clave: adivinar al azar cuesta (N+1)/2 intentos; Grover necesita unas π/4·√N iteraciones.</a:t>
            </a:r>
          </a:p>
          <a:p>
            <a:r>
              <a:t>Ejemplo N=16: 8,5 frente a 3. Monte Carlo real: 10 bits, 5000 ensayos, media 513,3 frente a 512,5 esperado.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Expone B. Idea clave: superposición, oráculo que marca, difusor que amplifica; se repite k veces.</a:t>
            </a:r>
          </a:p>
          <a:p>
            <a:r>
              <a:t>Ejemplo mínimo: con 2 qubits basta 1 iteración y se acierta el 100 %. La captura es el circuito real que dibuja Qiskit.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Expone B. Idea clave: la probabilidad sube hasta el óptimo y vuelve a bajar; más iteraciones no siempre es mejor.</a:t>
            </a:r>
          </a:p>
          <a:p>
            <a:r>
              <a:t>Con n=4 el óptimo es k=3 (96,1 %). Statevector coincide con la fórmula: error máximo 6,15·10⁻¹⁴.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Expone C. Idea clave: nueve secciones en la barra, del problema y la ruta guiada al reto diario y las limitaciones.</a:t>
            </a:r>
          </a:p>
          <a:p>
            <a:r>
              <a:t>Señalar la barra de navegación y el panel «Explora la escala» del inicio; todo corre en local, sin cuenta IBM.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Expone C. Idea clave: antes de ejecutar te comprometes con una predicción; luego comparas con teoría y medida.</a:t>
            </a:r>
          </a:p>
          <a:p>
            <a:r>
              <a:t>Ejemplo de la captura: predijo 70 %, teoría 96,1 %. Acercarse da XP; equivocarse enseña (metacognición).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Expone C. Idea clave: mueves k y ves girar el estado y crecer la amplitud del marcado.</a:t>
            </a:r>
          </a:p>
          <a:p>
            <a:r>
              <a:t>Oráculo invierte el signo, difusor refleja respecto a la media; cada iteración gira 2θ. Todo en el navegador con fórmulas exactas.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Expone C. Idea clave: con el modelo de ruido FakeFez el éxito cae del 80 % (n=3) al nivel del azar (n=6).</a:t>
            </a:r>
          </a:p>
          <a:p>
            <a:r>
              <a:t>Causa: la profundidad pasa de 137 a 4447 y las puertas de 2 qubits de 39 a 1706. Es simulación, no hardware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Expone D. Idea clave: el mismo circuito se transpila para el chip y se envía con SamplerV2.</a:t>
            </a:r>
          </a:p>
          <a:p>
            <a:r>
              <a:t>Tres modos: fake (probado), dry-run e ibm (listos, pendientes de cuenta). Aún no enviamos ningún job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Expone D. Idea clave: Grover reduce a la mitad los bits efectivos; Shor rompe RSA; NIST ya publicó reemplazos.</a:t>
            </a:r>
          </a:p>
          <a:p>
            <a:r>
              <a:t>Generador local con CSPRNG: 2072 palabras, 11,02 bits por palabra; meta ≥128 bits ≈ 64 efectivos frente a Grover idealizado.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Expone D. Idea clave: un solo proceso FastAPI sirve la API y la web; nada de contraseñas sale del navegador.</a:t>
            </a:r>
          </a:p>
          <a:p>
            <a:r>
              <a:t>CSP de mismo origen, validación en API y motor; IBM Quantum solo se usa desde el CLI, aparte del servidor.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Expone D. Idea clave: 72 pruebas Python y 37 de frontend pasan; no corrimos hardware real ni el piloto con alumnos.</a:t>
            </a:r>
          </a:p>
          <a:p>
            <a:r>
              <a:t>Todas las cifras son medidas en este repositorio, con seed fija y reproducibles.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Expone A. Idea clave: desde 14 años, 3 minutos al día, con racha y retos: aprender jugando y midiendo.</a:t>
            </a:r>
          </a:p>
          <a:p>
            <a:r>
              <a:t>Próximos pasos: piloto con estudiantes, primer job real en IBM, uso en aula. Cerrar con la invitación a probarlo.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A1B0C2"/>
                </a:solidFill>
                <a:latin typeface="Calibri"/>
              </a:rPr>
              <a:t>QubitGuard · Qiskit Fall Fest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11512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A1B0C2"/>
                </a:solidFill>
                <a:latin typeface="Consolas"/>
              </a:rPr>
              <a:t>01 / 16</a:t>
            </a:r>
          </a:p>
        </p:txBody>
      </p:sp>
      <p:pic>
        <p:nvPicPr>
          <p:cNvPr id="4" name="Picture 3" descr="s01_intro_asci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960120"/>
            <a:ext cx="5669280" cy="3779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9144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>
                <a:solidFill>
                  <a:srgbClr val="46D9E8"/>
                </a:solidFill>
                <a:latin typeface="Consolas"/>
              </a:rPr>
              <a:t>Reto 5.3 EdTech, IEEE CS PUCP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669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6400" b="1">
                <a:solidFill>
                  <a:srgbClr val="DCE5EE"/>
                </a:solidFill>
                <a:latin typeface="Consolas"/>
              </a:rPr>
              <a:t>QubitGuard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52120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0">
                <a:solidFill>
                  <a:srgbClr val="DCE5EE"/>
                </a:solidFill>
                <a:latin typeface="Calibri"/>
              </a:rPr>
              <a:t>Un laboratorio para aprender </a:t>
            </a:r>
            <a:r>
              <a:rPr sz="2600" b="1">
                <a:solidFill>
                  <a:srgbClr val="46D9E8"/>
                </a:solidFill>
                <a:latin typeface="Calibri"/>
              </a:rPr>
              <a:t>probabilidad cuántica</a:t>
            </a:r>
            <a:r>
              <a:rPr sz="2600" b="0">
                <a:solidFill>
                  <a:srgbClr val="DCE5EE"/>
                </a:solidFill>
                <a:latin typeface="Calibri"/>
              </a:rPr>
              <a:t> prediciendo y ejecutando circuitos </a:t>
            </a:r>
            <a:r>
              <a:rPr sz="2600" b="1">
                <a:solidFill>
                  <a:srgbClr val="46D9E8"/>
                </a:solidFill>
                <a:latin typeface="Calibri"/>
              </a:rPr>
              <a:t>Qiskit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51960"/>
            <a:ext cx="1066800" cy="384048"/>
          </a:xfrm>
          <a:prstGeom prst="roundRect">
            <a:avLst>
              <a:gd name="adj" fmla="val 50000"/>
            </a:avLst>
          </a:prstGeom>
          <a:solidFill>
            <a:srgbClr val="0E1520"/>
          </a:solidFill>
          <a:ln w="12700">
            <a:solidFill>
              <a:srgbClr val="46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251960"/>
            <a:ext cx="1066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46D9E8"/>
                </a:solidFill>
                <a:latin typeface="Consolas"/>
              </a:rPr>
              <a:t>EdTech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43456" y="4251960"/>
            <a:ext cx="1066800" cy="384048"/>
          </a:xfrm>
          <a:prstGeom prst="roundRect">
            <a:avLst>
              <a:gd name="adj" fmla="val 50000"/>
            </a:avLst>
          </a:prstGeom>
          <a:solidFill>
            <a:srgbClr val="0E1520"/>
          </a:solidFill>
          <a:ln w="12700">
            <a:solidFill>
              <a:srgbClr val="46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43456" y="4251960"/>
            <a:ext cx="1066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46D9E8"/>
                </a:solidFill>
                <a:latin typeface="Consolas"/>
              </a:rPr>
              <a:t>Qiskit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38272" y="4251960"/>
            <a:ext cx="1066800" cy="384048"/>
          </a:xfrm>
          <a:prstGeom prst="roundRect">
            <a:avLst>
              <a:gd name="adj" fmla="val 50000"/>
            </a:avLst>
          </a:prstGeom>
          <a:solidFill>
            <a:srgbClr val="0E1520"/>
          </a:solidFill>
          <a:ln w="12700">
            <a:solidFill>
              <a:srgbClr val="46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38272" y="4251960"/>
            <a:ext cx="1066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46D9E8"/>
                </a:solidFill>
                <a:latin typeface="Consolas"/>
              </a:rPr>
              <a:t>Grover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0749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>
                <a:solidFill>
                  <a:srgbClr val="A1B0C2"/>
                </a:solidFill>
                <a:latin typeface="Calibri"/>
              </a:rPr>
              <a:t>IBM Quantum Hackathon / Qiskit Fall Fest 2026, Lima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532120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1">
                <a:solidFill>
                  <a:srgbClr val="DCE5EE"/>
                </a:solidFill>
                <a:latin typeface="Calibri"/>
              </a:rPr>
              <a:t>Equipo: 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46D9E8"/>
                </a:solidFill>
                <a:latin typeface="Consolas"/>
              </a:rPr>
              <a:t>|02&gt;  Contexto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600" b="1">
                <a:solidFill>
                  <a:srgbClr val="DCE5EE"/>
                </a:solidFill>
                <a:latin typeface="Calibri"/>
              </a:rPr>
              <a:t>El reto y el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A1B0C2"/>
                </a:solidFill>
                <a:latin typeface="Calibri"/>
              </a:rPr>
              <a:t>QubitGuard · Qiskit Fall Fest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1512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A1B0C2"/>
                </a:solidFill>
                <a:latin typeface="Consolas"/>
              </a:rPr>
              <a:t>02 /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0E1520"/>
          </a:solidFill>
          <a:ln w="12700">
            <a:solidFill>
              <a:srgbClr val="25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46D9E8"/>
                </a:solidFill>
                <a:latin typeface="Consolas"/>
              </a:rPr>
              <a:t>Problema 1: física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1">
                <a:solidFill>
                  <a:srgbClr val="DCE5EE"/>
                </a:solidFill>
                <a:latin typeface="Calibri"/>
              </a:rPr>
              <a:t>La probabilidad cuántica no se intuye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70048"/>
            <a:ext cx="4754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>
                <a:solidFill>
                  <a:srgbClr val="A1B0C2"/>
                </a:solidFill>
                <a:latin typeface="Calibri"/>
              </a:rPr>
              <a:t>Las </a:t>
            </a:r>
            <a:r>
              <a:rPr sz="1800" b="1">
                <a:solidFill>
                  <a:srgbClr val="46D9E8"/>
                </a:solidFill>
                <a:latin typeface="Calibri"/>
              </a:rPr>
              <a:t>amplitudes</a:t>
            </a:r>
            <a:r>
              <a:rPr sz="1800" b="0">
                <a:solidFill>
                  <a:srgbClr val="A1B0C2"/>
                </a:solidFill>
                <a:latin typeface="Calibri"/>
              </a:rPr>
              <a:t> pueden ser negativas y cancelarse. La estadística escolar no lo anticipa.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611879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0E1520"/>
          </a:solidFill>
          <a:ln w="12700">
            <a:solidFill>
              <a:srgbClr val="25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794759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EA6BBD"/>
                </a:solidFill>
                <a:latin typeface="Consolas"/>
              </a:rPr>
              <a:t>Problema 2: seguridad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114800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1">
                <a:solidFill>
                  <a:srgbClr val="DCE5EE"/>
                </a:solidFill>
                <a:latin typeface="Calibri"/>
              </a:rPr>
              <a:t>La amenaza se explica con alarmismo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544568"/>
            <a:ext cx="4754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>
                <a:solidFill>
                  <a:srgbClr val="A1B0C2"/>
                </a:solidFill>
                <a:latin typeface="Calibri"/>
              </a:rPr>
              <a:t>«Romperá todas las contraseñas», con fórmulas que nadie comprueba.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623560"/>
            <a:ext cx="1255776" cy="384048"/>
          </a:xfrm>
          <a:prstGeom prst="roundRect">
            <a:avLst>
              <a:gd name="adj" fmla="val 50000"/>
            </a:avLst>
          </a:prstGeom>
          <a:solidFill>
            <a:srgbClr val="0E1520"/>
          </a:solidFill>
          <a:ln w="12700">
            <a:solidFill>
              <a:srgbClr val="46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623560"/>
            <a:ext cx="12557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46D9E8"/>
                </a:solidFill>
                <a:latin typeface="Consolas"/>
              </a:rPr>
              <a:t>Reto 5.3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32432" y="5623560"/>
            <a:ext cx="1373886" cy="384048"/>
          </a:xfrm>
          <a:prstGeom prst="roundRect">
            <a:avLst>
              <a:gd name="adj" fmla="val 50000"/>
            </a:avLst>
          </a:prstGeom>
          <a:solidFill>
            <a:srgbClr val="0E1520"/>
          </a:solidFill>
          <a:ln w="12700">
            <a:solidFill>
              <a:srgbClr val="46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32432" y="5623560"/>
            <a:ext cx="137388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46D9E8"/>
                </a:solidFill>
                <a:latin typeface="Consolas"/>
              </a:rPr>
              <a:t>intuición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34334" y="5623560"/>
            <a:ext cx="1728216" cy="384048"/>
          </a:xfrm>
          <a:prstGeom prst="roundRect">
            <a:avLst>
              <a:gd name="adj" fmla="val 50000"/>
            </a:avLst>
          </a:prstGeom>
          <a:solidFill>
            <a:srgbClr val="0E1520"/>
          </a:solidFill>
          <a:ln w="12700">
            <a:solidFill>
              <a:srgbClr val="46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34334" y="5623560"/>
            <a:ext cx="172821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46D9E8"/>
                </a:solidFill>
                <a:latin typeface="Consolas"/>
              </a:rPr>
              <a:t>criptografía</a:t>
            </a:r>
          </a:p>
        </p:txBody>
      </p:sp>
      <p:pic>
        <p:nvPicPr>
          <p:cNvPr id="20" name="Picture 19" descr="s02_proble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737360"/>
            <a:ext cx="5468112" cy="3320947"/>
          </a:xfrm>
          <a:prstGeom prst="rect">
            <a:avLst/>
          </a:prstGeom>
          <a:ln w="12700">
            <a:solidFill>
              <a:srgbClr val="253246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6172200" y="5149747"/>
            <a:ext cx="546811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A1B0C2"/>
                </a:solidFill>
                <a:latin typeface="Calibri"/>
              </a:rPr>
              <a:t>Sección «El problema» de la app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46D9E8"/>
                </a:solidFill>
                <a:latin typeface="Consolas"/>
              </a:rPr>
              <a:t>|03&gt;  Contexto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600" b="1">
                <a:solidFill>
                  <a:srgbClr val="DCE5EE"/>
                </a:solidFill>
                <a:latin typeface="Calibri"/>
              </a:rPr>
              <a:t>Lo mínimo de computación cuántica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A1B0C2"/>
                </a:solidFill>
                <a:latin typeface="Calibri"/>
              </a:rPr>
              <a:t>QubitGuard · Qiskit Fall Fest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1512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A1B0C2"/>
                </a:solidFill>
                <a:latin typeface="Consolas"/>
              </a:rPr>
              <a:t>03 /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3520440" cy="3429000"/>
          </a:xfrm>
          <a:prstGeom prst="roundRect">
            <a:avLst>
              <a:gd name="adj" fmla="val 3200"/>
            </a:avLst>
          </a:prstGeom>
          <a:solidFill>
            <a:srgbClr val="0E1520"/>
          </a:solidFill>
          <a:ln w="12700">
            <a:solidFill>
              <a:srgbClr val="25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874519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DCE5EE"/>
                </a:solidFill>
                <a:latin typeface="Calibri"/>
              </a:rPr>
              <a:t>Antes de medir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28600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>
                <a:solidFill>
                  <a:srgbClr val="46D9E8"/>
                </a:solidFill>
                <a:latin typeface="Consolas"/>
              </a:rPr>
              <a:t>0,6|0&gt; + 0,8|1&gt;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1234440" y="3364992"/>
            <a:ext cx="731520" cy="932688"/>
          </a:xfrm>
          <a:prstGeom prst="rect">
            <a:avLst/>
          </a:prstGeom>
          <a:solidFill>
            <a:srgbClr val="46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3017520"/>
            <a:ext cx="731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46D9E8"/>
                </a:solidFill>
                <a:latin typeface="Consolas"/>
              </a:rPr>
              <a:t>0,6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389120"/>
            <a:ext cx="731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A1B0C2"/>
                </a:solidFill>
                <a:latin typeface="Consolas"/>
              </a:rPr>
              <a:t>|0&gt;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0" y="3054096"/>
            <a:ext cx="731520" cy="1243584"/>
          </a:xfrm>
          <a:prstGeom prst="rect">
            <a:avLst/>
          </a:prstGeom>
          <a:solidFill>
            <a:srgbClr val="46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0" y="2706624"/>
            <a:ext cx="731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46D9E8"/>
                </a:solidFill>
                <a:latin typeface="Consolas"/>
              </a:rPr>
              <a:t>0,8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4389120"/>
            <a:ext cx="731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A1B0C2"/>
                </a:solidFill>
                <a:latin typeface="Consolas"/>
              </a:rPr>
              <a:t>|1&gt;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4754880"/>
            <a:ext cx="2971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A1B0C2"/>
                </a:solidFill>
                <a:latin typeface="Calibri"/>
              </a:rPr>
              <a:t>amplitudes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114800" y="3291840"/>
            <a:ext cx="384048" cy="310896"/>
          </a:xfrm>
          <a:prstGeom prst="rightArrow">
            <a:avLst/>
          </a:prstGeom>
          <a:solidFill>
            <a:srgbClr val="A1B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98848" y="1737360"/>
            <a:ext cx="3520440" cy="3429000"/>
          </a:xfrm>
          <a:prstGeom prst="roundRect">
            <a:avLst>
              <a:gd name="adj" fmla="val 3200"/>
            </a:avLst>
          </a:prstGeom>
          <a:solidFill>
            <a:srgbClr val="0E1520"/>
          </a:solidFill>
          <a:ln w="12700">
            <a:solidFill>
              <a:srgbClr val="25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1874519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DCE5EE"/>
                </a:solidFill>
                <a:latin typeface="Calibri"/>
              </a:rPr>
              <a:t>Al medir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73168" y="228600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>
                <a:solidFill>
                  <a:srgbClr val="DCE5EE"/>
                </a:solidFill>
                <a:latin typeface="Consolas"/>
              </a:rPr>
              <a:t>P = amplitud²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84648" y="3738067"/>
            <a:ext cx="731520" cy="559612"/>
          </a:xfrm>
          <a:prstGeom prst="rect">
            <a:avLst/>
          </a:prstGeom>
          <a:solidFill>
            <a:srgbClr val="A1B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93208" y="3390595"/>
            <a:ext cx="914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DCE5EE"/>
                </a:solidFill>
                <a:latin typeface="Consolas"/>
              </a:rPr>
              <a:t>36 %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84648" y="4389120"/>
            <a:ext cx="731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A1B0C2"/>
                </a:solidFill>
                <a:latin typeface="Consolas"/>
              </a:rPr>
              <a:t>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10528" y="3302812"/>
            <a:ext cx="731520" cy="994867"/>
          </a:xfrm>
          <a:prstGeom prst="rect">
            <a:avLst/>
          </a:prstGeom>
          <a:solidFill>
            <a:srgbClr val="A1B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2955340"/>
            <a:ext cx="914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DCE5EE"/>
                </a:solidFill>
                <a:latin typeface="Consolas"/>
              </a:rPr>
              <a:t>64 %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4389120"/>
            <a:ext cx="731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A1B0C2"/>
                </a:solidFill>
                <a:latin typeface="Consola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73168" y="4754880"/>
            <a:ext cx="2971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A1B0C2"/>
                </a:solidFill>
                <a:latin typeface="Calibri"/>
              </a:rPr>
              <a:t>sale 0 o 1, nunca ambos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49056" y="1737360"/>
            <a:ext cx="3191256" cy="3429000"/>
          </a:xfrm>
          <a:prstGeom prst="roundRect">
            <a:avLst>
              <a:gd name="adj" fmla="val 3438"/>
            </a:avLst>
          </a:prstGeom>
          <a:solidFill>
            <a:srgbClr val="0E1520"/>
          </a:solidFill>
          <a:ln w="12700">
            <a:solidFill>
              <a:srgbClr val="25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23376" y="1874519"/>
            <a:ext cx="264261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DCE5EE"/>
                </a:solidFill>
                <a:latin typeface="Calibri"/>
              </a:rPr>
              <a:t>Interferencia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23376" y="2286000"/>
            <a:ext cx="264261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>
                <a:solidFill>
                  <a:srgbClr val="46D9E8"/>
                </a:solidFill>
                <a:latin typeface="Consolas"/>
              </a:rPr>
              <a:t>+0,5 y −0,5 suman 0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769096" y="3794760"/>
            <a:ext cx="2551176" cy="0"/>
          </a:xfrm>
          <a:prstGeom prst="line">
            <a:avLst/>
          </a:prstGeom>
          <a:ln>
            <a:solidFill>
              <a:srgbClr val="2532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134856" y="3095244"/>
            <a:ext cx="731520" cy="699516"/>
          </a:xfrm>
          <a:prstGeom prst="rect">
            <a:avLst/>
          </a:prstGeom>
          <a:solidFill>
            <a:srgbClr val="46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232136" y="3794760"/>
            <a:ext cx="731520" cy="699516"/>
          </a:xfrm>
          <a:prstGeom prst="rect">
            <a:avLst/>
          </a:prstGeom>
          <a:solidFill>
            <a:srgbClr val="46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23376" y="4754880"/>
            <a:ext cx="26426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A1B0C2"/>
                </a:solidFill>
                <a:latin typeface="Calibri"/>
              </a:rPr>
              <a:t>se cancelan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468112"/>
            <a:ext cx="5669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46D9E8"/>
                </a:solidFill>
                <a:latin typeface="Calibri"/>
              </a:rPr>
              <a:t>n qubits</a:t>
            </a:r>
            <a:r>
              <a:rPr sz="1800" b="0">
                <a:solidFill>
                  <a:srgbClr val="DCE5EE"/>
                </a:solidFill>
                <a:latin typeface="Calibri"/>
              </a:rPr>
              <a:t>: </a:t>
            </a:r>
            <a:r>
              <a:rPr sz="1800" b="0">
                <a:solidFill>
                  <a:srgbClr val="DCE5EE"/>
                </a:solidFill>
                <a:latin typeface="Consolas"/>
              </a:rPr>
              <a:t>2ⁿ</a:t>
            </a:r>
            <a:r>
              <a:rPr sz="1800" b="0">
                <a:solidFill>
                  <a:srgbClr val="DCE5EE"/>
                </a:solidFill>
                <a:latin typeface="Calibri"/>
              </a:rPr>
              <a:t> estados en </a:t>
            </a:r>
            <a:r>
              <a:rPr sz="1800" b="1">
                <a:solidFill>
                  <a:srgbClr val="46D9E8"/>
                </a:solidFill>
                <a:latin typeface="Calibri"/>
              </a:rPr>
              <a:t>superposición</a:t>
            </a:r>
            <a:r>
              <a:rPr sz="1800" b="0">
                <a:solidFill>
                  <a:srgbClr val="DCE5EE"/>
                </a:solidFill>
                <a:latin typeface="Calibri"/>
              </a:rPr>
              <a:t>. 4 qubits, N = 16.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64655" y="5468112"/>
            <a:ext cx="862076" cy="384048"/>
          </a:xfrm>
          <a:prstGeom prst="roundRect">
            <a:avLst>
              <a:gd name="adj" fmla="val 50000"/>
            </a:avLst>
          </a:prstGeom>
          <a:solidFill>
            <a:srgbClr val="0E1520"/>
          </a:solidFill>
          <a:ln w="12700">
            <a:solidFill>
              <a:srgbClr val="46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64655" y="5468112"/>
            <a:ext cx="8620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46D9E8"/>
                </a:solidFill>
                <a:latin typeface="Consolas"/>
              </a:rPr>
              <a:t>qubit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254747" y="5468112"/>
            <a:ext cx="1743964" cy="384048"/>
          </a:xfrm>
          <a:prstGeom prst="roundRect">
            <a:avLst>
              <a:gd name="adj" fmla="val 50000"/>
            </a:avLst>
          </a:prstGeom>
          <a:solidFill>
            <a:srgbClr val="0E1520"/>
          </a:solidFill>
          <a:ln w="12700">
            <a:solidFill>
              <a:srgbClr val="46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54747" y="5468112"/>
            <a:ext cx="17439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46D9E8"/>
                </a:solidFill>
                <a:latin typeface="Consolas"/>
              </a:rPr>
              <a:t>superposición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26727" y="5468112"/>
            <a:ext cx="1192784" cy="384048"/>
          </a:xfrm>
          <a:prstGeom prst="roundRect">
            <a:avLst>
              <a:gd name="adj" fmla="val 50000"/>
            </a:avLst>
          </a:prstGeom>
          <a:solidFill>
            <a:srgbClr val="0E1520"/>
          </a:solidFill>
          <a:ln w="12700">
            <a:solidFill>
              <a:srgbClr val="46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26727" y="5468112"/>
            <a:ext cx="11927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46D9E8"/>
                </a:solidFill>
                <a:latin typeface="Consolas"/>
              </a:rPr>
              <a:t>amplitud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447528" y="5468112"/>
            <a:ext cx="1192784" cy="384048"/>
          </a:xfrm>
          <a:prstGeom prst="roundRect">
            <a:avLst>
              <a:gd name="adj" fmla="val 50000"/>
            </a:avLst>
          </a:prstGeom>
          <a:solidFill>
            <a:srgbClr val="0E1520"/>
          </a:solidFill>
          <a:ln w="12700">
            <a:solidFill>
              <a:srgbClr val="46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447528" y="5468112"/>
            <a:ext cx="11927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46D9E8"/>
                </a:solidFill>
                <a:latin typeface="Consolas"/>
              </a:rPr>
              <a:t>medición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46D9E8"/>
                </a:solidFill>
                <a:latin typeface="Consolas"/>
              </a:rPr>
              <a:t>|04&gt;  Qiskit y física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600" b="1">
                <a:solidFill>
                  <a:srgbClr val="DCE5EE"/>
                </a:solidFill>
                <a:latin typeface="Calibri"/>
              </a:rPr>
              <a:t>¿Qué es Qiskit?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A1B0C2"/>
                </a:solidFill>
                <a:latin typeface="Calibri"/>
              </a:rPr>
              <a:t>QubitGuard · Qiskit Fall Fest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1512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A1B0C2"/>
                </a:solidFill>
                <a:latin typeface="Consolas"/>
              </a:rPr>
              <a:t>04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0">
                <a:solidFill>
                  <a:srgbClr val="A1B0C2"/>
                </a:solidFill>
                <a:latin typeface="Calibri"/>
              </a:rPr>
              <a:t>El </a:t>
            </a:r>
            <a:r>
              <a:rPr sz="2000" b="1">
                <a:solidFill>
                  <a:srgbClr val="46D9E8"/>
                </a:solidFill>
                <a:latin typeface="Calibri"/>
              </a:rPr>
              <a:t>SDK</a:t>
            </a:r>
            <a:r>
              <a:rPr sz="2000" b="0">
                <a:solidFill>
                  <a:srgbClr val="A1B0C2"/>
                </a:solidFill>
                <a:latin typeface="Calibri"/>
              </a:rPr>
              <a:t> de IBM, de código abierto, para programar computadoras cuánticas en Python.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94560"/>
            <a:ext cx="2423160" cy="2011680"/>
          </a:xfrm>
          <a:prstGeom prst="roundRect">
            <a:avLst>
              <a:gd name="adj" fmla="val 5454"/>
            </a:avLst>
          </a:prstGeom>
          <a:solidFill>
            <a:srgbClr val="0E1520"/>
          </a:solidFill>
          <a:ln w="12700">
            <a:solidFill>
              <a:srgbClr val="25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46D9E8"/>
                </a:solidFill>
                <a:latin typeface="Consola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313432"/>
            <a:ext cx="169163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1">
                <a:solidFill>
                  <a:srgbClr val="DCE5EE"/>
                </a:solidFill>
                <a:latin typeface="Calibri"/>
              </a:rPr>
              <a:t>Construir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88920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46D9E8"/>
                </a:solidFill>
                <a:latin typeface="Consolas"/>
              </a:rPr>
              <a:t>QuantumCircuit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456432"/>
            <a:ext cx="2057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A1B0C2"/>
                </a:solidFill>
                <a:latin typeface="Calibri"/>
              </a:rPr>
              <a:t>puertas H, oráculo y difusor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026664" y="3044952"/>
            <a:ext cx="356616" cy="310896"/>
          </a:xfrm>
          <a:prstGeom prst="rightArrow">
            <a:avLst/>
          </a:prstGeom>
          <a:solidFill>
            <a:srgbClr val="A1B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38144" y="2194560"/>
            <a:ext cx="2423160" cy="2011680"/>
          </a:xfrm>
          <a:prstGeom prst="roundRect">
            <a:avLst>
              <a:gd name="adj" fmla="val 5454"/>
            </a:avLst>
          </a:prstGeom>
          <a:solidFill>
            <a:srgbClr val="0E1520"/>
          </a:solidFill>
          <a:ln w="12700">
            <a:solidFill>
              <a:srgbClr val="25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66744" y="23317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46D9E8"/>
                </a:solidFill>
                <a:latin typeface="Consola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32504" y="2313432"/>
            <a:ext cx="169163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1">
                <a:solidFill>
                  <a:srgbClr val="DCE5EE"/>
                </a:solidFill>
                <a:latin typeface="Calibri"/>
              </a:rPr>
              <a:t>Transpilar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6744" y="2788920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46D9E8"/>
                </a:solidFill>
                <a:latin typeface="Consolas"/>
              </a:rPr>
              <a:t>transpile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6744" y="3456432"/>
            <a:ext cx="2057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A1B0C2"/>
                </a:solidFill>
                <a:latin typeface="Calibri"/>
              </a:rPr>
              <a:t>adapta el circuito a las puertas del chip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916168" y="3044952"/>
            <a:ext cx="356616" cy="310896"/>
          </a:xfrm>
          <a:prstGeom prst="rightArrow">
            <a:avLst/>
          </a:prstGeom>
          <a:solidFill>
            <a:srgbClr val="A1B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27648" y="2194560"/>
            <a:ext cx="2423160" cy="2011680"/>
          </a:xfrm>
          <a:prstGeom prst="roundRect">
            <a:avLst>
              <a:gd name="adj" fmla="val 5454"/>
            </a:avLst>
          </a:prstGeom>
          <a:solidFill>
            <a:srgbClr val="0E1520"/>
          </a:solidFill>
          <a:ln w="12700">
            <a:solidFill>
              <a:srgbClr val="25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56248" y="23317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46D9E8"/>
                </a:solidFill>
                <a:latin typeface="Consola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22008" y="2313432"/>
            <a:ext cx="169163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1">
                <a:solidFill>
                  <a:srgbClr val="DCE5EE"/>
                </a:solidFill>
                <a:latin typeface="Calibri"/>
              </a:rPr>
              <a:t>Ejecutar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6248" y="2788920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46D9E8"/>
                </a:solidFill>
                <a:latin typeface="Consolas"/>
              </a:rPr>
              <a:t>AerSimulator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46D9E8"/>
                </a:solidFill>
                <a:latin typeface="Consolas"/>
              </a:rPr>
              <a:t>SamplerV2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6248" y="3456432"/>
            <a:ext cx="2057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A1B0C2"/>
                </a:solidFill>
                <a:latin typeface="Calibri"/>
              </a:rPr>
              <a:t>simulador local o QPU de IBM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805672" y="3044952"/>
            <a:ext cx="356616" cy="310896"/>
          </a:xfrm>
          <a:prstGeom prst="rightArrow">
            <a:avLst/>
          </a:prstGeom>
          <a:solidFill>
            <a:srgbClr val="A1B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217152" y="2194560"/>
            <a:ext cx="2423160" cy="2011680"/>
          </a:xfrm>
          <a:prstGeom prst="roundRect">
            <a:avLst>
              <a:gd name="adj" fmla="val 5454"/>
            </a:avLst>
          </a:prstGeom>
          <a:solidFill>
            <a:srgbClr val="0E1520"/>
          </a:solidFill>
          <a:ln w="12700">
            <a:solidFill>
              <a:srgbClr val="25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45752" y="23317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46D9E8"/>
                </a:solidFill>
                <a:latin typeface="Consola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11512" y="2313432"/>
            <a:ext cx="169163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1">
                <a:solidFill>
                  <a:srgbClr val="DCE5EE"/>
                </a:solidFill>
                <a:latin typeface="Calibri"/>
              </a:rPr>
              <a:t>Medir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45752" y="2788920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46D9E8"/>
                </a:solidFill>
                <a:latin typeface="Consolas"/>
              </a:rPr>
              <a:t>counts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5752" y="3456432"/>
            <a:ext cx="2057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A1B0C2"/>
                </a:solidFill>
                <a:latin typeface="Calibri"/>
              </a:rPr>
              <a:t>cuántas veces salió cada estado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434840"/>
            <a:ext cx="11091672" cy="1051560"/>
          </a:xfrm>
          <a:prstGeom prst="roundRect">
            <a:avLst>
              <a:gd name="adj" fmla="val 10434"/>
            </a:avLst>
          </a:prstGeom>
          <a:solidFill>
            <a:srgbClr val="0E1520"/>
          </a:solidFill>
          <a:ln w="12700">
            <a:solidFill>
              <a:srgbClr val="25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544568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A1B0C2"/>
                </a:solidFill>
                <a:latin typeface="Consolas"/>
              </a:rPr>
              <a:t>En QubitGuard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4892040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>
                <a:solidFill>
                  <a:srgbClr val="DCE5EE"/>
                </a:solidFill>
                <a:latin typeface="Calibri"/>
              </a:rPr>
              <a:t>n=4, estado 1010, k=3, 2048 shots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4544568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000" b="1">
                <a:solidFill>
                  <a:srgbClr val="46D9E8"/>
                </a:solidFill>
                <a:latin typeface="Consolas"/>
              </a:rPr>
              <a:t>0,953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2440" y="4544568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>
                <a:solidFill>
                  <a:srgbClr val="A1B0C2"/>
                </a:solidFill>
                <a:latin typeface="Calibri"/>
              </a:rPr>
              <a:t>medido, frente a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>
                <a:solidFill>
                  <a:srgbClr val="A1B0C2"/>
                </a:solidFill>
                <a:latin typeface="Calibri"/>
              </a:rPr>
              <a:t>0,961 teórico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5669280"/>
            <a:ext cx="641604" cy="384048"/>
          </a:xfrm>
          <a:prstGeom prst="roundRect">
            <a:avLst>
              <a:gd name="adj" fmla="val 50000"/>
            </a:avLst>
          </a:prstGeom>
          <a:solidFill>
            <a:srgbClr val="0E1520"/>
          </a:solidFill>
          <a:ln w="12700">
            <a:solidFill>
              <a:srgbClr val="46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5669280"/>
            <a:ext cx="6416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46D9E8"/>
                </a:solidFill>
                <a:latin typeface="Consolas"/>
              </a:rPr>
              <a:t>SDK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318260" y="5669280"/>
            <a:ext cx="1192784" cy="384048"/>
          </a:xfrm>
          <a:prstGeom prst="roundRect">
            <a:avLst>
              <a:gd name="adj" fmla="val 50000"/>
            </a:avLst>
          </a:prstGeom>
          <a:solidFill>
            <a:srgbClr val="0E1520"/>
          </a:solidFill>
          <a:ln w="12700">
            <a:solidFill>
              <a:srgbClr val="46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18260" y="5669280"/>
            <a:ext cx="11927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46D9E8"/>
                </a:solidFill>
                <a:latin typeface="Consolas"/>
              </a:rPr>
              <a:t>circuito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639060" y="5669280"/>
            <a:ext cx="1413256" cy="384048"/>
          </a:xfrm>
          <a:prstGeom prst="roundRect">
            <a:avLst>
              <a:gd name="adj" fmla="val 50000"/>
            </a:avLst>
          </a:prstGeom>
          <a:solidFill>
            <a:srgbClr val="0E1520"/>
          </a:solidFill>
          <a:ln w="12700">
            <a:solidFill>
              <a:srgbClr val="46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39060" y="5669280"/>
            <a:ext cx="141325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46D9E8"/>
                </a:solidFill>
                <a:latin typeface="Consolas"/>
              </a:rPr>
              <a:t>transpilar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180332" y="5669280"/>
            <a:ext cx="641604" cy="384048"/>
          </a:xfrm>
          <a:prstGeom prst="roundRect">
            <a:avLst>
              <a:gd name="adj" fmla="val 50000"/>
            </a:avLst>
          </a:prstGeom>
          <a:solidFill>
            <a:srgbClr val="0E1520"/>
          </a:solidFill>
          <a:ln w="12700">
            <a:solidFill>
              <a:srgbClr val="46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80332" y="5669280"/>
            <a:ext cx="6416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46D9E8"/>
                </a:solidFill>
                <a:latin typeface="Consolas"/>
              </a:rPr>
              <a:t>Aer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949952" y="5669280"/>
            <a:ext cx="1082548" cy="384048"/>
          </a:xfrm>
          <a:prstGeom prst="roundRect">
            <a:avLst>
              <a:gd name="adj" fmla="val 50000"/>
            </a:avLst>
          </a:prstGeom>
          <a:solidFill>
            <a:srgbClr val="0E1520"/>
          </a:solidFill>
          <a:ln w="12700">
            <a:solidFill>
              <a:srgbClr val="46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49952" y="5669280"/>
            <a:ext cx="10825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46D9E8"/>
                </a:solidFill>
                <a:latin typeface="Consolas"/>
              </a:rPr>
              <a:t>Runtime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46D9E8"/>
                </a:solidFill>
                <a:latin typeface="Consolas"/>
              </a:rPr>
              <a:t>|05&gt;  Qiskit y física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600" b="1">
                <a:solidFill>
                  <a:srgbClr val="DCE5EE"/>
                </a:solidFill>
                <a:latin typeface="Calibri"/>
              </a:rPr>
              <a:t>De Monte Carlo a Grover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A1B0C2"/>
                </a:solidFill>
                <a:latin typeface="Calibri"/>
              </a:rPr>
              <a:t>QubitGuard · Qiskit Fall Fest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1512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A1B0C2"/>
                </a:solidFill>
                <a:latin typeface="Consolas"/>
              </a:rPr>
              <a:t>05 / 16</a:t>
            </a:r>
          </a:p>
        </p:txBody>
      </p:sp>
      <p:pic>
        <p:nvPicPr>
          <p:cNvPr id="6" name="Picture 5" descr="s05_grafico_azar_vs_gr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600200"/>
            <a:ext cx="6903720" cy="443144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26679" y="169164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DCE5EE"/>
                </a:solidFill>
                <a:latin typeface="Calibri"/>
              </a:rPr>
              <a:t>Ejemplo: N =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2103120"/>
            <a:ext cx="15544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5400" b="1">
                <a:solidFill>
                  <a:srgbClr val="EA6BBD"/>
                </a:solidFill>
                <a:latin typeface="Consolas"/>
              </a:rPr>
              <a:t>8,5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19" y="2212848"/>
            <a:ext cx="2240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>
                <a:solidFill>
                  <a:srgbClr val="A1B0C2"/>
                </a:solidFill>
                <a:latin typeface="Calibri"/>
              </a:rPr>
              <a:t>intentos </a:t>
            </a:r>
            <a:r>
              <a:rPr sz="1700" b="1">
                <a:solidFill>
                  <a:srgbClr val="EA6BBD"/>
                </a:solidFill>
                <a:latin typeface="Calibri"/>
              </a:rPr>
              <a:t>al azar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>
                <a:solidFill>
                  <a:srgbClr val="A1B0C2"/>
                </a:solidFill>
                <a:latin typeface="Consolas"/>
              </a:rPr>
              <a:t>(N+1)/2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3017520"/>
            <a:ext cx="15544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5400" b="1">
                <a:solidFill>
                  <a:srgbClr val="46D9E8"/>
                </a:solidFill>
                <a:latin typeface="Consola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19" y="3127248"/>
            <a:ext cx="2240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>
                <a:solidFill>
                  <a:srgbClr val="A1B0C2"/>
                </a:solidFill>
                <a:latin typeface="Calibri"/>
              </a:rPr>
              <a:t>iteraciones de </a:t>
            </a:r>
            <a:r>
              <a:rPr sz="1700" b="1">
                <a:solidFill>
                  <a:srgbClr val="46D9E8"/>
                </a:solidFill>
                <a:latin typeface="Calibri"/>
              </a:rPr>
              <a:t>Grover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>
                <a:solidFill>
                  <a:srgbClr val="A1B0C2"/>
                </a:solidFill>
                <a:latin typeface="Consolas"/>
              </a:rPr>
              <a:t>π/4·√16 ≈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4069080"/>
            <a:ext cx="391363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46D9E8"/>
                </a:solidFill>
                <a:latin typeface="Calibri"/>
              </a:rPr>
              <a:t>Ventaja cuadrática</a:t>
            </a:r>
            <a:r>
              <a:rPr sz="1800" b="0">
                <a:solidFill>
                  <a:srgbClr val="DCE5EE"/>
                </a:solidFill>
                <a:latin typeface="Calibri"/>
              </a:rPr>
              <a:t>: cuadruplicar N solo duplica el trabajo de Grover.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4983480"/>
            <a:ext cx="3913632" cy="914400"/>
          </a:xfrm>
          <a:prstGeom prst="roundRect">
            <a:avLst>
              <a:gd name="adj" fmla="val 12000"/>
            </a:avLst>
          </a:prstGeom>
          <a:solidFill>
            <a:srgbClr val="0E1520"/>
          </a:solidFill>
          <a:ln w="12700">
            <a:solidFill>
              <a:srgbClr val="25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7848" y="5074920"/>
            <a:ext cx="35661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EA6BBD"/>
                </a:solidFill>
                <a:latin typeface="Calibri"/>
              </a:rPr>
              <a:t>Monte Carlo</a:t>
            </a:r>
            <a:r>
              <a:rPr sz="1500" b="0">
                <a:solidFill>
                  <a:srgbClr val="A1B0C2"/>
                </a:solidFill>
                <a:latin typeface="Calibri"/>
              </a:rPr>
              <a:t> medido: 10 bits, 5000 ensayos, media 513,3 (esperado 512,5)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46D9E8"/>
                </a:solidFill>
                <a:latin typeface="Consolas"/>
              </a:rPr>
              <a:t>|06&gt;  Qiskit y física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600" b="1">
                <a:solidFill>
                  <a:srgbClr val="DCE5EE"/>
                </a:solidFill>
                <a:latin typeface="Calibri"/>
              </a:rPr>
              <a:t>Grover paso a paso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A1B0C2"/>
                </a:solidFill>
                <a:latin typeface="Calibri"/>
              </a:rPr>
              <a:t>QubitGuard · Qiskit Fall Fest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1512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A1B0C2"/>
                </a:solidFill>
                <a:latin typeface="Consolas"/>
              </a:rPr>
              <a:t>06 /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1627632"/>
            <a:ext cx="6309360" cy="1481328"/>
          </a:xfrm>
          <a:prstGeom prst="roundRect">
            <a:avLst>
              <a:gd name="adj" fmla="val 7407"/>
            </a:avLst>
          </a:prstGeom>
          <a:noFill/>
          <a:ln w="12700">
            <a:solidFill>
              <a:srgbClr val="46D9E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09560" y="168249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46D9E8"/>
                </a:solidFill>
                <a:latin typeface="Consolas"/>
              </a:rPr>
              <a:t>× k veces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47672"/>
            <a:ext cx="2011680" cy="1024128"/>
          </a:xfrm>
          <a:prstGeom prst="roundRect">
            <a:avLst>
              <a:gd name="adj" fmla="val 10714"/>
            </a:avLst>
          </a:prstGeom>
          <a:solidFill>
            <a:srgbClr val="0E1520"/>
          </a:solidFill>
          <a:ln w="12700">
            <a:solidFill>
              <a:srgbClr val="25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46D9E8"/>
                </a:solidFill>
                <a:latin typeface="Consolas"/>
              </a:rPr>
              <a:t>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04872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A1B0C2"/>
                </a:solidFill>
                <a:latin typeface="Calibri"/>
              </a:rPr>
              <a:t>superposición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54680" y="1947672"/>
            <a:ext cx="2514600" cy="1024128"/>
          </a:xfrm>
          <a:prstGeom prst="roundRect">
            <a:avLst>
              <a:gd name="adj" fmla="val 10714"/>
            </a:avLst>
          </a:prstGeom>
          <a:solidFill>
            <a:srgbClr val="0E1520"/>
          </a:solidFill>
          <a:ln w="12700">
            <a:solidFill>
              <a:srgbClr val="25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2011680"/>
            <a:ext cx="2148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46D9E8"/>
                </a:solidFill>
                <a:latin typeface="Consolas"/>
              </a:rPr>
              <a:t>Oráculo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404872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A1B0C2"/>
                </a:solidFill>
                <a:latin typeface="Calibri"/>
              </a:rPr>
              <a:t>marca: cambia el signo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947672"/>
            <a:ext cx="2834640" cy="1024128"/>
          </a:xfrm>
          <a:prstGeom prst="roundRect">
            <a:avLst>
              <a:gd name="adj" fmla="val 10714"/>
            </a:avLst>
          </a:prstGeom>
          <a:solidFill>
            <a:srgbClr val="0E1520"/>
          </a:solidFill>
          <a:ln w="12700">
            <a:solidFill>
              <a:srgbClr val="25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1168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46D9E8"/>
                </a:solidFill>
                <a:latin typeface="Consolas"/>
              </a:rPr>
              <a:t>Difusor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404872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A1B0C2"/>
                </a:solidFill>
                <a:latin typeface="Calibri"/>
              </a:rPr>
              <a:t>amplifica: refleja respecto a la media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12680" y="1947672"/>
            <a:ext cx="1627632" cy="1024128"/>
          </a:xfrm>
          <a:prstGeom prst="roundRect">
            <a:avLst>
              <a:gd name="adj" fmla="val 10714"/>
            </a:avLst>
          </a:prstGeom>
          <a:solidFill>
            <a:srgbClr val="0E1520"/>
          </a:solidFill>
          <a:ln w="12700">
            <a:solidFill>
              <a:srgbClr val="25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95559" y="2011680"/>
            <a:ext cx="126187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DCE5EE"/>
                </a:solidFill>
                <a:latin typeface="Consolas"/>
              </a:rPr>
              <a:t>Medir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95559" y="2404872"/>
            <a:ext cx="12618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A1B0C2"/>
                </a:solidFill>
                <a:latin typeface="Calibri"/>
              </a:rPr>
              <a:t>counts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2633472" y="2304288"/>
            <a:ext cx="274320" cy="310896"/>
          </a:xfrm>
          <a:prstGeom prst="rightArrow">
            <a:avLst/>
          </a:prstGeom>
          <a:solidFill>
            <a:srgbClr val="A1B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Arrow 20"/>
          <p:cNvSpPr/>
          <p:nvPr/>
        </p:nvSpPr>
        <p:spPr>
          <a:xfrm>
            <a:off x="5742432" y="2304288"/>
            <a:ext cx="457200" cy="310896"/>
          </a:xfrm>
          <a:prstGeom prst="rightArrow">
            <a:avLst/>
          </a:prstGeom>
          <a:solidFill>
            <a:srgbClr val="A1B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ght Arrow 21"/>
          <p:cNvSpPr/>
          <p:nvPr/>
        </p:nvSpPr>
        <p:spPr>
          <a:xfrm>
            <a:off x="9491472" y="2304288"/>
            <a:ext cx="457200" cy="310896"/>
          </a:xfrm>
          <a:prstGeom prst="rightArrow">
            <a:avLst/>
          </a:prstGeom>
          <a:solidFill>
            <a:srgbClr val="A1B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06_circui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429000"/>
            <a:ext cx="7589520" cy="1685464"/>
          </a:xfrm>
          <a:prstGeom prst="rect">
            <a:avLst/>
          </a:prstGeom>
          <a:ln w="12700">
            <a:solidFill>
              <a:srgbClr val="253246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48640" y="5205904"/>
            <a:ext cx="7589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A1B0C2"/>
                </a:solidFill>
                <a:latin typeface="Calibri"/>
              </a:rPr>
              <a:t>Circuito real dibujado por Qiskit: n=4, estado 1010, k=3 (primer tramo)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58200" y="3429000"/>
            <a:ext cx="3182112" cy="2096944"/>
          </a:xfrm>
          <a:prstGeom prst="roundRect">
            <a:avLst>
              <a:gd name="adj" fmla="val 5232"/>
            </a:avLst>
          </a:prstGeom>
          <a:solidFill>
            <a:srgbClr val="0E1520"/>
          </a:solidFill>
          <a:ln w="12700">
            <a:solidFill>
              <a:srgbClr val="25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0" y="356616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A1B0C2"/>
                </a:solidFill>
                <a:latin typeface="Consolas"/>
              </a:rPr>
              <a:t>Ejemplo mínimo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39319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>
                <a:solidFill>
                  <a:srgbClr val="DCE5EE"/>
                </a:solidFill>
                <a:latin typeface="Consolas"/>
              </a:rPr>
              <a:t>n = 2  (N = 4)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438912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>
                <a:solidFill>
                  <a:srgbClr val="46D9E8"/>
                </a:solidFill>
                <a:latin typeface="Calibri"/>
              </a:rPr>
              <a:t>1</a:t>
            </a:r>
            <a:r>
              <a:rPr sz="2600" b="1">
                <a:solidFill>
                  <a:srgbClr val="DCE5EE"/>
                </a:solidFill>
                <a:latin typeface="Calibri"/>
              </a:rPr>
              <a:t> iteración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493776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>
                <a:solidFill>
                  <a:srgbClr val="46D9E8"/>
                </a:solidFill>
                <a:latin typeface="Calibri"/>
              </a:rPr>
              <a:t>100 %</a:t>
            </a:r>
            <a:r>
              <a:rPr sz="2600" b="1">
                <a:solidFill>
                  <a:srgbClr val="DCE5EE"/>
                </a:solidFill>
                <a:latin typeface="Calibri"/>
              </a:rPr>
              <a:t> de acierto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715000"/>
            <a:ext cx="421132" cy="384048"/>
          </a:xfrm>
          <a:prstGeom prst="roundRect">
            <a:avLst>
              <a:gd name="adj" fmla="val 50000"/>
            </a:avLst>
          </a:prstGeom>
          <a:solidFill>
            <a:srgbClr val="0E1520"/>
          </a:solidFill>
          <a:ln w="12700">
            <a:solidFill>
              <a:srgbClr val="46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715000"/>
            <a:ext cx="42113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46D9E8"/>
                </a:solidFill>
                <a:latin typeface="Consolas"/>
              </a:rPr>
              <a:t>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97788" y="5715000"/>
            <a:ext cx="1082548" cy="384048"/>
          </a:xfrm>
          <a:prstGeom prst="roundRect">
            <a:avLst>
              <a:gd name="adj" fmla="val 50000"/>
            </a:avLst>
          </a:prstGeom>
          <a:solidFill>
            <a:srgbClr val="0E1520"/>
          </a:solidFill>
          <a:ln w="12700">
            <a:solidFill>
              <a:srgbClr val="46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788" y="5715000"/>
            <a:ext cx="10825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46D9E8"/>
                </a:solidFill>
                <a:latin typeface="Consolas"/>
              </a:rPr>
              <a:t>oráculo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308352" y="5715000"/>
            <a:ext cx="1082548" cy="384048"/>
          </a:xfrm>
          <a:prstGeom prst="roundRect">
            <a:avLst>
              <a:gd name="adj" fmla="val 50000"/>
            </a:avLst>
          </a:prstGeom>
          <a:solidFill>
            <a:srgbClr val="0E1520"/>
          </a:solidFill>
          <a:ln w="12700">
            <a:solidFill>
              <a:srgbClr val="46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308352" y="5715000"/>
            <a:ext cx="10825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46D9E8"/>
                </a:solidFill>
                <a:latin typeface="Consolas"/>
              </a:rPr>
              <a:t>difusor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518916" y="5715000"/>
            <a:ext cx="1303020" cy="384048"/>
          </a:xfrm>
          <a:prstGeom prst="roundRect">
            <a:avLst>
              <a:gd name="adj" fmla="val 50000"/>
            </a:avLst>
          </a:prstGeom>
          <a:solidFill>
            <a:srgbClr val="0E1520"/>
          </a:solidFill>
          <a:ln w="12700">
            <a:solidFill>
              <a:srgbClr val="46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18916" y="5715000"/>
            <a:ext cx="13030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46D9E8"/>
                </a:solidFill>
                <a:latin typeface="Consolas"/>
              </a:rPr>
              <a:t>iteración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46D9E8"/>
                </a:solidFill>
                <a:latin typeface="Consolas"/>
              </a:rPr>
              <a:t>|07&gt;  Qiskit y física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600" b="1">
                <a:solidFill>
                  <a:srgbClr val="DCE5EE"/>
                </a:solidFill>
                <a:latin typeface="Calibri"/>
              </a:rPr>
              <a:t>La curva sin²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A1B0C2"/>
                </a:solidFill>
                <a:latin typeface="Calibri"/>
              </a:rPr>
              <a:t>QubitGuard · Qiskit Fall Fest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1512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A1B0C2"/>
                </a:solidFill>
                <a:latin typeface="Consolas"/>
              </a:rPr>
              <a:t>07 / 16</a:t>
            </a:r>
          </a:p>
        </p:txBody>
      </p:sp>
      <p:pic>
        <p:nvPicPr>
          <p:cNvPr id="6" name="Picture 5" descr="s07_curv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37360"/>
            <a:ext cx="6720840" cy="3290618"/>
          </a:xfrm>
          <a:prstGeom prst="rect">
            <a:avLst/>
          </a:prstGeom>
          <a:ln w="12700">
            <a:solidFill>
              <a:srgbClr val="253246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48640" y="5137706"/>
            <a:ext cx="6720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A1B0C2"/>
                </a:solidFill>
                <a:latin typeface="Calibri"/>
              </a:rPr>
              <a:t>Laboratorio: n=4, estado 1010, curva ideal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737360"/>
            <a:ext cx="3959352" cy="1371600"/>
          </a:xfrm>
          <a:prstGeom prst="roundRect">
            <a:avLst>
              <a:gd name="adj" fmla="val 8000"/>
            </a:avLst>
          </a:prstGeom>
          <a:solidFill>
            <a:srgbClr val="0E1520"/>
          </a:solidFill>
          <a:ln w="12700">
            <a:solidFill>
              <a:srgbClr val="25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1874519"/>
            <a:ext cx="3566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400" b="1">
                <a:solidFill>
                  <a:srgbClr val="46D9E8"/>
                </a:solidFill>
                <a:latin typeface="Consolas"/>
              </a:rPr>
              <a:t>P = sin²((2k+1)θ)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2514600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>
                <a:solidFill>
                  <a:srgbClr val="A1B0C2"/>
                </a:solidFill>
                <a:latin typeface="Consolas"/>
              </a:rPr>
              <a:t>θ = asin(1/√N)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0" y="3479292"/>
            <a:ext cx="100584" cy="100584"/>
          </a:xfrm>
          <a:prstGeom prst="rect">
            <a:avLst/>
          </a:prstGeom>
          <a:solidFill>
            <a:srgbClr val="46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0" y="3383280"/>
            <a:ext cx="368503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>
                <a:solidFill>
                  <a:srgbClr val="DCE5EE"/>
                </a:solidFill>
                <a:latin typeface="Calibri"/>
              </a:rPr>
              <a:t>Sube hasta el </a:t>
            </a:r>
            <a:r>
              <a:rPr sz="1800" b="1">
                <a:solidFill>
                  <a:srgbClr val="46D9E8"/>
                </a:solidFill>
                <a:latin typeface="Calibri"/>
              </a:rPr>
              <a:t>k óptimo</a:t>
            </a:r>
            <a:r>
              <a:rPr sz="1800" b="0">
                <a:solidFill>
                  <a:srgbClr val="DCE5EE"/>
                </a:solidFill>
                <a:latin typeface="Calibri"/>
              </a:rPr>
              <a:t>: n=4 da k=3 y 96,1 %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0" y="4256532"/>
            <a:ext cx="100584" cy="100584"/>
          </a:xfrm>
          <a:prstGeom prst="rect">
            <a:avLst/>
          </a:prstGeom>
          <a:solidFill>
            <a:srgbClr val="46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0" y="4160520"/>
            <a:ext cx="368503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>
                <a:solidFill>
                  <a:srgbClr val="DCE5EE"/>
                </a:solidFill>
                <a:latin typeface="Calibri"/>
              </a:rPr>
              <a:t>Si te pasas, </a:t>
            </a:r>
            <a:r>
              <a:rPr sz="1800" b="1">
                <a:solidFill>
                  <a:srgbClr val="46D9E8"/>
                </a:solidFill>
                <a:latin typeface="Calibri"/>
              </a:rPr>
              <a:t>baja</a:t>
            </a:r>
            <a:r>
              <a:rPr sz="1800" b="0">
                <a:solidFill>
                  <a:srgbClr val="DCE5EE"/>
                </a:solidFill>
                <a:latin typeface="Calibri"/>
              </a:rPr>
              <a:t>: la amplitud gira de más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5033772"/>
            <a:ext cx="100584" cy="100584"/>
          </a:xfrm>
          <a:prstGeom prst="rect">
            <a:avLst/>
          </a:prstGeom>
          <a:solidFill>
            <a:srgbClr val="46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0" y="4937760"/>
            <a:ext cx="368503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46D9E8"/>
                </a:solidFill>
                <a:latin typeface="Calibri"/>
              </a:rPr>
              <a:t>Statevector</a:t>
            </a:r>
            <a:r>
              <a:rPr sz="1800" b="0">
                <a:solidFill>
                  <a:srgbClr val="DCE5EE"/>
                </a:solidFill>
                <a:latin typeface="Calibri"/>
              </a:rPr>
              <a:t> = fórmula, error máx. </a:t>
            </a:r>
            <a:r>
              <a:rPr sz="1800" b="0">
                <a:solidFill>
                  <a:srgbClr val="DCE5EE"/>
                </a:solidFill>
                <a:latin typeface="Consolas"/>
              </a:rPr>
              <a:t>6,15·10⁻¹⁴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46D9E8"/>
                </a:solidFill>
                <a:latin typeface="Consolas"/>
              </a:rPr>
              <a:t>|08&gt;  La aplicación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600" b="1">
                <a:solidFill>
                  <a:srgbClr val="DCE5EE"/>
                </a:solidFill>
                <a:latin typeface="Calibri"/>
              </a:rPr>
              <a:t>Recorrido por la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A1B0C2"/>
                </a:solidFill>
                <a:latin typeface="Calibri"/>
              </a:rPr>
              <a:t>QubitGuard · Qiskit Fall Fest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1512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A1B0C2"/>
                </a:solidFill>
                <a:latin typeface="Consolas"/>
              </a:rPr>
              <a:t>08 / 16</a:t>
            </a:r>
          </a:p>
        </p:txBody>
      </p:sp>
      <p:pic>
        <p:nvPicPr>
          <p:cNvPr id="6" name="Picture 5" descr="s08_inic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7223760" cy="4163695"/>
          </a:xfrm>
          <a:prstGeom prst="rect">
            <a:avLst/>
          </a:prstGeom>
          <a:ln w="12700">
            <a:solidFill>
              <a:srgbClr val="253246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1150620" y="2042795"/>
            <a:ext cx="5141912" cy="205676"/>
          </a:xfrm>
          <a:prstGeom prst="roundRect">
            <a:avLst>
              <a:gd name="adj" fmla="val 26674"/>
            </a:avLst>
          </a:prstGeom>
          <a:noFill/>
          <a:ln w="25400">
            <a:solidFill>
              <a:srgbClr val="46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946774"/>
            <a:ext cx="7223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A1B0C2"/>
                </a:solidFill>
                <a:latin typeface="Calibri"/>
              </a:rPr>
              <a:t>Inicio: navegación y «Explora la escala»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1627632"/>
            <a:ext cx="1097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800" b="1">
                <a:solidFill>
                  <a:srgbClr val="46D9E8"/>
                </a:solidFill>
                <a:latin typeface="Consolas"/>
              </a:rPr>
              <a:t>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1810512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1">
                <a:solidFill>
                  <a:srgbClr val="DCE5EE"/>
                </a:solidFill>
                <a:latin typeface="Calibri"/>
              </a:rPr>
              <a:t>secciones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245059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46D9E8"/>
                </a:solidFill>
                <a:latin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450592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>
                <a:solidFill>
                  <a:srgbClr val="DCE5EE"/>
                </a:solidFill>
                <a:latin typeface="Calibri"/>
              </a:rPr>
              <a:t>El problema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95559" y="246888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A1B0C2"/>
                </a:solidFill>
                <a:latin typeface="Calibri"/>
              </a:rPr>
              <a:t>para quién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285292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46D9E8"/>
                </a:solidFill>
                <a:latin typeface="Consola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2852928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>
                <a:solidFill>
                  <a:srgbClr val="DCE5EE"/>
                </a:solidFill>
                <a:latin typeface="Calibri"/>
              </a:rPr>
              <a:t>Tu ruta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95559" y="2871216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A1B0C2"/>
                </a:solidFill>
                <a:latin typeface="Calibri"/>
              </a:rPr>
              <a:t>pasos guiados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325526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46D9E8"/>
                </a:solidFill>
                <a:latin typeface="Consola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3255264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>
                <a:solidFill>
                  <a:srgbClr val="DCE5EE"/>
                </a:solidFill>
                <a:latin typeface="Calibri"/>
              </a:rPr>
              <a:t>Reto diario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95559" y="3273552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A1B0C2"/>
                </a:solidFill>
                <a:latin typeface="Calibri"/>
              </a:rPr>
              <a:t>una al día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36576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46D9E8"/>
                </a:solidFill>
                <a:latin typeface="Consola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365760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>
                <a:solidFill>
                  <a:srgbClr val="DCE5EE"/>
                </a:solidFill>
                <a:latin typeface="Calibri"/>
              </a:rPr>
              <a:t>Laboratorio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95559" y="3675887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A1B0C2"/>
                </a:solidFill>
                <a:latin typeface="Calibri"/>
              </a:rPr>
              <a:t>predice y mide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9" y="405993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46D9E8"/>
                </a:solidFill>
                <a:latin typeface="Consola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4059936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>
                <a:solidFill>
                  <a:srgbClr val="DCE5EE"/>
                </a:solidFill>
                <a:latin typeface="Calibri"/>
              </a:rPr>
              <a:t>Amplitudes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5559" y="4078224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A1B0C2"/>
                </a:solidFill>
                <a:latin typeface="Calibri"/>
              </a:rPr>
              <a:t>en vivo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79" y="446227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46D9E8"/>
                </a:solidFill>
                <a:latin typeface="Consolas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4462272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>
                <a:solidFill>
                  <a:srgbClr val="DCE5EE"/>
                </a:solidFill>
                <a:latin typeface="Calibri"/>
              </a:rPr>
              <a:t>Azar vs Grover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95559" y="448056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A1B0C2"/>
                </a:solidFill>
                <a:latin typeface="Calibri"/>
              </a:rPr>
              <a:t>Monte Carlo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79" y="486460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46D9E8"/>
                </a:solidFill>
                <a:latin typeface="Consolas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9640" y="4864608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>
                <a:solidFill>
                  <a:srgbClr val="DCE5EE"/>
                </a:solidFill>
                <a:latin typeface="Calibri"/>
              </a:rPr>
              <a:t>Tu contraseña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95559" y="4882896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A1B0C2"/>
                </a:solidFill>
                <a:latin typeface="Calibri"/>
              </a:rPr>
              <a:t>entropía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3879" y="526694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46D9E8"/>
                </a:solidFill>
                <a:latin typeface="Consolas"/>
              </a:rPr>
              <a:t>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9640" y="5266944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>
                <a:solidFill>
                  <a:srgbClr val="DCE5EE"/>
                </a:solidFill>
                <a:latin typeface="Calibri"/>
              </a:rPr>
              <a:t>Poscuántica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95559" y="5285231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A1B0C2"/>
                </a:solidFill>
                <a:latin typeface="Calibri"/>
              </a:rPr>
              <a:t>Shor y NIST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3879" y="56692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46D9E8"/>
                </a:solidFill>
                <a:latin typeface="Consolas"/>
              </a:rPr>
              <a:t>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49640" y="56692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>
                <a:solidFill>
                  <a:srgbClr val="DCE5EE"/>
                </a:solidFill>
                <a:latin typeface="Calibri"/>
              </a:rPr>
              <a:t>Limitaciones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95559" y="5687568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A1B0C2"/>
                </a:solidFill>
                <a:latin typeface="Calibri"/>
              </a:rPr>
              <a:t>lo no probado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46D9E8"/>
                </a:solidFill>
                <a:latin typeface="Consolas"/>
              </a:rPr>
              <a:t>|09&gt;  La aplicación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600" b="1">
                <a:solidFill>
                  <a:srgbClr val="DCE5EE"/>
                </a:solidFill>
                <a:latin typeface="Calibri"/>
              </a:rPr>
              <a:t>Predice → Observa → Explica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A1B0C2"/>
                </a:solidFill>
                <a:latin typeface="Calibri"/>
              </a:rPr>
              <a:t>QubitGuard · Qiskit Fall Fest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1512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A1B0C2"/>
                </a:solidFill>
                <a:latin typeface="Consolas"/>
              </a:rPr>
              <a:t>09 /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64208"/>
            <a:ext cx="3575304" cy="868680"/>
          </a:xfrm>
          <a:prstGeom prst="roundRect">
            <a:avLst>
              <a:gd name="adj" fmla="val 12631"/>
            </a:avLst>
          </a:prstGeom>
          <a:solidFill>
            <a:srgbClr val="0E1520"/>
          </a:solidFill>
          <a:ln w="12700">
            <a:solidFill>
              <a:srgbClr val="25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6479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46D9E8"/>
                </a:solidFill>
                <a:latin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73736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DCE5EE"/>
                </a:solidFill>
                <a:latin typeface="Calibri"/>
              </a:rPr>
              <a:t>Predice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103120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A1B0C2"/>
                </a:solidFill>
                <a:latin typeface="Calibri"/>
              </a:rPr>
              <a:t>te comprometes con un número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6824" y="1664208"/>
            <a:ext cx="3575304" cy="868680"/>
          </a:xfrm>
          <a:prstGeom prst="roundRect">
            <a:avLst>
              <a:gd name="adj" fmla="val 12631"/>
            </a:avLst>
          </a:prstGeom>
          <a:solidFill>
            <a:srgbClr val="0E1520"/>
          </a:solidFill>
          <a:ln w="12700">
            <a:solidFill>
              <a:srgbClr val="25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5424" y="176479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46D9E8"/>
                </a:solidFill>
                <a:latin typeface="Consola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01184" y="173736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DCE5EE"/>
                </a:solidFill>
                <a:latin typeface="Calibri"/>
              </a:rPr>
              <a:t>Observa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01184" y="2103120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A1B0C2"/>
                </a:solidFill>
                <a:latin typeface="Calibri"/>
              </a:rPr>
              <a:t>teoría y medida, lado a lado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1664208"/>
            <a:ext cx="3575304" cy="868680"/>
          </a:xfrm>
          <a:prstGeom prst="roundRect">
            <a:avLst>
              <a:gd name="adj" fmla="val 12631"/>
            </a:avLst>
          </a:prstGeom>
          <a:solidFill>
            <a:srgbClr val="0E1520"/>
          </a:solidFill>
          <a:ln w="12700">
            <a:solidFill>
              <a:srgbClr val="25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176479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46D9E8"/>
                </a:solidFill>
                <a:latin typeface="Consola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59368" y="173736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DCE5EE"/>
                </a:solidFill>
                <a:latin typeface="Calibri"/>
              </a:rPr>
              <a:t>Explica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59368" y="2103120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A1B0C2"/>
                </a:solidFill>
                <a:latin typeface="Calibri"/>
              </a:rPr>
              <a:t>por qué acertaste o fallaste</a:t>
            </a:r>
          </a:p>
        </p:txBody>
      </p:sp>
      <p:pic>
        <p:nvPicPr>
          <p:cNvPr id="18" name="Picture 17" descr="s09_predic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43200"/>
            <a:ext cx="2460143" cy="3017520"/>
          </a:xfrm>
          <a:prstGeom prst="rect">
            <a:avLst/>
          </a:prstGeom>
          <a:ln w="12700">
            <a:solidFill>
              <a:srgbClr val="253246"/>
            </a:solidFill>
          </a:ln>
        </p:spPr>
      </p:pic>
      <p:sp>
        <p:nvSpPr>
          <p:cNvPr id="19" name="Right Arrow 18"/>
          <p:cNvSpPr/>
          <p:nvPr/>
        </p:nvSpPr>
        <p:spPr>
          <a:xfrm>
            <a:off x="3191663" y="4096512"/>
            <a:ext cx="384048" cy="310896"/>
          </a:xfrm>
          <a:prstGeom prst="rightArrow">
            <a:avLst/>
          </a:prstGeom>
          <a:solidFill>
            <a:srgbClr val="A1B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09_po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0303" y="2743200"/>
            <a:ext cx="6238676" cy="3017520"/>
          </a:xfrm>
          <a:prstGeom prst="rect">
            <a:avLst/>
          </a:prstGeom>
          <a:ln w="12700">
            <a:solidFill>
              <a:srgbClr val="253246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548640" y="5870448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46D9E8"/>
                </a:solidFill>
                <a:latin typeface="Calibri"/>
              </a:rPr>
              <a:t>POE</a:t>
            </a:r>
            <a:r>
              <a:rPr sz="1600" b="0">
                <a:solidFill>
                  <a:srgbClr val="A1B0C2"/>
                </a:solidFill>
                <a:latin typeface="Calibri"/>
              </a:rPr>
              <a:t>: comprometerse antes activa la </a:t>
            </a:r>
            <a:r>
              <a:rPr sz="1600" b="1">
                <a:solidFill>
                  <a:srgbClr val="46D9E8"/>
                </a:solidFill>
                <a:latin typeface="Calibri"/>
              </a:rPr>
              <a:t>metacognición</a:t>
            </a:r>
            <a:r>
              <a:rPr sz="1600" b="0">
                <a:solidFill>
                  <a:srgbClr val="A1B0C2"/>
                </a:solidFill>
                <a:latin typeface="Calibri"/>
              </a:rPr>
              <a:t>; acercarse a la teoría da </a:t>
            </a:r>
            <a:r>
              <a:rPr sz="1600" b="1">
                <a:solidFill>
                  <a:srgbClr val="46D9E8"/>
                </a:solidFill>
                <a:latin typeface="Calibri"/>
              </a:rPr>
              <a:t>XP</a:t>
            </a:r>
            <a:r>
              <a:rPr sz="1600" b="0">
                <a:solidFill>
                  <a:srgbClr val="A1B0C2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46D9E8"/>
                </a:solidFill>
                <a:latin typeface="Consolas"/>
              </a:rPr>
              <a:t>|10&gt;  La aplicación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600" b="1">
                <a:solidFill>
                  <a:srgbClr val="DCE5EE"/>
                </a:solidFill>
                <a:latin typeface="Calibri"/>
              </a:rPr>
              <a:t>Explorador de amplitudes en vivo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A1B0C2"/>
                </a:solidFill>
                <a:latin typeface="Calibri"/>
              </a:rPr>
              <a:t>QubitGuard · Qiskit Fall Fest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1512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A1B0C2"/>
                </a:solidFill>
                <a:latin typeface="Consolas"/>
              </a:rPr>
              <a:t>10 / 16</a:t>
            </a:r>
          </a:p>
        </p:txBody>
      </p:sp>
      <p:pic>
        <p:nvPicPr>
          <p:cNvPr id="6" name="Picture 5" descr="s10_explorad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7040880" cy="3892087"/>
          </a:xfrm>
          <a:prstGeom prst="rect">
            <a:avLst/>
          </a:prstGeom>
          <a:ln w="12700">
            <a:solidFill>
              <a:srgbClr val="253246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48640" y="5675167"/>
            <a:ext cx="7040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A1B0C2"/>
                </a:solidFill>
                <a:latin typeface="Calibri"/>
              </a:rPr>
              <a:t>n=4, k=2: barras de amplitud y giro del estado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8001000" y="1879092"/>
            <a:ext cx="100584" cy="100584"/>
          </a:xfrm>
          <a:prstGeom prst="rect">
            <a:avLst/>
          </a:prstGeom>
          <a:solidFill>
            <a:srgbClr val="46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783080"/>
            <a:ext cx="336499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46D9E8"/>
                </a:solidFill>
                <a:latin typeface="Calibri"/>
              </a:rPr>
              <a:t>Oráculo</a:t>
            </a:r>
            <a:r>
              <a:rPr sz="1800" b="0">
                <a:solidFill>
                  <a:srgbClr val="DCE5EE"/>
                </a:solidFill>
                <a:latin typeface="Calibri"/>
              </a:rPr>
              <a:t>: el marcado cambia de signo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1000" y="2702052"/>
            <a:ext cx="100584" cy="100584"/>
          </a:xfrm>
          <a:prstGeom prst="rect">
            <a:avLst/>
          </a:prstGeom>
          <a:solidFill>
            <a:srgbClr val="46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2606040"/>
            <a:ext cx="336499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46D9E8"/>
                </a:solidFill>
                <a:latin typeface="Calibri"/>
              </a:rPr>
              <a:t>Difusor</a:t>
            </a:r>
            <a:r>
              <a:rPr sz="1800" b="0">
                <a:solidFill>
                  <a:srgbClr val="DCE5EE"/>
                </a:solidFill>
                <a:latin typeface="Calibri"/>
              </a:rPr>
              <a:t>: todo se refleja respecto a la </a:t>
            </a:r>
            <a:r>
              <a:rPr sz="1800" b="1">
                <a:solidFill>
                  <a:srgbClr val="46D9E8"/>
                </a:solidFill>
                <a:latin typeface="Calibri"/>
              </a:rPr>
              <a:t>media</a:t>
            </a:r>
            <a:r>
              <a:rPr sz="1800" b="0">
                <a:solidFill>
                  <a:srgbClr val="DCE5EE"/>
                </a:solidFill>
                <a:latin typeface="Calibri"/>
              </a:rPr>
              <a:t>; lo que quedó debajo sube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3707892"/>
            <a:ext cx="100584" cy="100584"/>
          </a:xfrm>
          <a:prstGeom prst="rect">
            <a:avLst/>
          </a:prstGeom>
          <a:solidFill>
            <a:srgbClr val="46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3611880"/>
            <a:ext cx="336499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>
                <a:solidFill>
                  <a:srgbClr val="DCE5EE"/>
                </a:solidFill>
                <a:latin typeface="Calibri"/>
              </a:rPr>
              <a:t>Cada iteración gira el estado </a:t>
            </a:r>
            <a:r>
              <a:rPr sz="1800" b="1">
                <a:solidFill>
                  <a:srgbClr val="46D9E8"/>
                </a:solidFill>
                <a:latin typeface="Calibri"/>
              </a:rPr>
              <a:t>2θ</a:t>
            </a:r>
            <a:r>
              <a:rPr sz="1800" b="0">
                <a:solidFill>
                  <a:srgbClr val="DCE5EE"/>
                </a:solidFill>
                <a:latin typeface="Calibri"/>
              </a:rPr>
              <a:t> hacia el marcado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4754880"/>
            <a:ext cx="3639312" cy="960120"/>
          </a:xfrm>
          <a:prstGeom prst="roundRect">
            <a:avLst>
              <a:gd name="adj" fmla="val 11428"/>
            </a:avLst>
          </a:prstGeom>
          <a:solidFill>
            <a:srgbClr val="0E1520"/>
          </a:solidFill>
          <a:ln w="12700">
            <a:solidFill>
              <a:srgbClr val="25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2168" y="4846320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A1B0C2"/>
                </a:solidFill>
                <a:latin typeface="Calibri"/>
              </a:rPr>
              <a:t>Se calcula en tu navegador con fórmulas exactas, sin servidor.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46D9E8"/>
                </a:solidFill>
                <a:latin typeface="Consolas"/>
              </a:rPr>
              <a:t>|11&gt;  La aplicación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600" b="1">
                <a:solidFill>
                  <a:srgbClr val="DCE5EE"/>
                </a:solidFill>
                <a:latin typeface="Calibri"/>
              </a:rPr>
              <a:t>El ruido borra la amplificación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A1B0C2"/>
                </a:solidFill>
                <a:latin typeface="Calibri"/>
              </a:rPr>
              <a:t>QubitGuard · Qiskit Fall Fest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1512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A1B0C2"/>
                </a:solidFill>
                <a:latin typeface="Consolas"/>
              </a:rPr>
              <a:t>11 / 16</a:t>
            </a:r>
          </a:p>
        </p:txBody>
      </p:sp>
      <p:pic>
        <p:nvPicPr>
          <p:cNvPr id="6" name="Picture 5" descr="s11_grafico_ruido_fakefez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600200"/>
            <a:ext cx="6949440" cy="434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18120" y="1691640"/>
            <a:ext cx="3840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600" b="1">
                <a:solidFill>
                  <a:srgbClr val="46D9E8"/>
                </a:solidFill>
                <a:latin typeface="Consolas"/>
              </a:rPr>
              <a:t>80 % → azar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2468880"/>
            <a:ext cx="3822191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>
                <a:solidFill>
                  <a:srgbClr val="DCE5EE"/>
                </a:solidFill>
                <a:latin typeface="Calibri"/>
              </a:rPr>
              <a:t>Más qubits, circuito más </a:t>
            </a:r>
            <a:r>
              <a:rPr sz="1700" b="1">
                <a:solidFill>
                  <a:srgbClr val="46D9E8"/>
                </a:solidFill>
                <a:latin typeface="Calibri"/>
              </a:rPr>
              <a:t>profundo</a:t>
            </a:r>
            <a:r>
              <a:rPr sz="1700" b="0">
                <a:solidFill>
                  <a:srgbClr val="DCE5EE"/>
                </a:solidFill>
                <a:latin typeface="Calibri"/>
              </a:rPr>
              <a:t>: cada puerta suma error. Puertas de 2 qubits: 39 con n=3, 1706 con n=6.</a:t>
            </a:r>
          </a:p>
        </p:txBody>
      </p:sp>
      <p:pic>
        <p:nvPicPr>
          <p:cNvPr id="9" name="Picture 8" descr="s11_histograma_ruid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3749039"/>
            <a:ext cx="3822191" cy="1429068"/>
          </a:xfrm>
          <a:prstGeom prst="rect">
            <a:avLst/>
          </a:prstGeom>
          <a:ln w="12700">
            <a:solidFill>
              <a:srgbClr val="253246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7818120" y="5251260"/>
            <a:ext cx="3822191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A1B0C2"/>
                </a:solidFill>
                <a:latin typeface="Calibri"/>
              </a:rPr>
              <a:t>App, n=6 con ruido: histograma plano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5635308"/>
            <a:ext cx="751840" cy="384048"/>
          </a:xfrm>
          <a:prstGeom prst="roundRect">
            <a:avLst>
              <a:gd name="adj" fmla="val 50000"/>
            </a:avLst>
          </a:prstGeom>
          <a:solidFill>
            <a:srgbClr val="0E1520"/>
          </a:solidFill>
          <a:ln w="12700">
            <a:solidFill>
              <a:srgbClr val="46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5635308"/>
            <a:ext cx="751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46D9E8"/>
                </a:solidFill>
                <a:latin typeface="Consolas"/>
              </a:rPr>
              <a:t>NISQ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97976" y="5635308"/>
            <a:ext cx="1082548" cy="384048"/>
          </a:xfrm>
          <a:prstGeom prst="roundRect">
            <a:avLst>
              <a:gd name="adj" fmla="val 50000"/>
            </a:avLst>
          </a:prstGeom>
          <a:solidFill>
            <a:srgbClr val="0E1520"/>
          </a:solidFill>
          <a:ln w="12700">
            <a:solidFill>
              <a:srgbClr val="46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97976" y="5635308"/>
            <a:ext cx="10825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46D9E8"/>
                </a:solidFill>
                <a:latin typeface="Consolas"/>
              </a:rPr>
              <a:t>FakeFez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08540" y="5635308"/>
            <a:ext cx="1523492" cy="384048"/>
          </a:xfrm>
          <a:prstGeom prst="roundRect">
            <a:avLst>
              <a:gd name="adj" fmla="val 50000"/>
            </a:avLst>
          </a:prstGeom>
          <a:solidFill>
            <a:srgbClr val="0E1520"/>
          </a:solidFill>
          <a:ln w="12700">
            <a:solidFill>
              <a:srgbClr val="46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08540" y="5635308"/>
            <a:ext cx="15234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46D9E8"/>
                </a:solidFill>
                <a:latin typeface="Consolas"/>
              </a:rPr>
              <a:t>profundidad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46D9E8"/>
                </a:solidFill>
                <a:latin typeface="Consolas"/>
              </a:rPr>
              <a:t>|12&gt;  Hardware, seguridad y validación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600" b="1">
                <a:solidFill>
                  <a:srgbClr val="DCE5EE"/>
                </a:solidFill>
                <a:latin typeface="Calibri"/>
              </a:rPr>
              <a:t>Hacia una computadora cuántica real de IBM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A1B0C2"/>
                </a:solidFill>
                <a:latin typeface="Calibri"/>
              </a:rPr>
              <a:t>QubitGuard · Qiskit Fall Fest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1512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A1B0C2"/>
                </a:solidFill>
                <a:latin typeface="Consolas"/>
              </a:rPr>
              <a:t>12 /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2514600" cy="1143000"/>
          </a:xfrm>
          <a:prstGeom prst="roundRect">
            <a:avLst>
              <a:gd name="adj" fmla="val 9600"/>
            </a:avLst>
          </a:prstGeom>
          <a:solidFill>
            <a:srgbClr val="0E1520"/>
          </a:solidFill>
          <a:ln w="12700">
            <a:solidFill>
              <a:srgbClr val="25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801368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900" b="1">
                <a:solidFill>
                  <a:srgbClr val="DCE5EE"/>
                </a:solidFill>
                <a:latin typeface="Calibri"/>
              </a:rPr>
              <a:t>Tu laptop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258568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46D9E8"/>
                </a:solidFill>
                <a:latin typeface="Consolas"/>
              </a:rPr>
              <a:t>run_ibm_hardware.py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108960" y="2103120"/>
            <a:ext cx="256032" cy="310896"/>
          </a:xfrm>
          <a:prstGeom prst="rightArrow">
            <a:avLst/>
          </a:prstGeom>
          <a:solidFill>
            <a:srgbClr val="A1B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10712" y="1691640"/>
            <a:ext cx="2514600" cy="1143000"/>
          </a:xfrm>
          <a:prstGeom prst="roundRect">
            <a:avLst>
              <a:gd name="adj" fmla="val 9600"/>
            </a:avLst>
          </a:prstGeom>
          <a:solidFill>
            <a:srgbClr val="0E1520"/>
          </a:solidFill>
          <a:ln w="12700">
            <a:solidFill>
              <a:srgbClr val="25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75304" y="1801368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900" b="1">
                <a:solidFill>
                  <a:srgbClr val="DCE5EE"/>
                </a:solidFill>
                <a:latin typeface="Calibri"/>
              </a:rPr>
              <a:t>IBM Quantum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75304" y="2258568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46D9E8"/>
                </a:solidFill>
                <a:latin typeface="Consolas"/>
              </a:rPr>
              <a:t>QiskitRuntimeService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971032" y="2103120"/>
            <a:ext cx="256032" cy="310896"/>
          </a:xfrm>
          <a:prstGeom prst="rightArrow">
            <a:avLst/>
          </a:prstGeom>
          <a:solidFill>
            <a:srgbClr val="A1B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72783" y="1691640"/>
            <a:ext cx="2514600" cy="1143000"/>
          </a:xfrm>
          <a:prstGeom prst="roundRect">
            <a:avLst>
              <a:gd name="adj" fmla="val 9600"/>
            </a:avLst>
          </a:prstGeom>
          <a:solidFill>
            <a:srgbClr val="0E1520"/>
          </a:solidFill>
          <a:ln w="12700">
            <a:solidFill>
              <a:srgbClr val="46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7375" y="1801368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900" b="1">
                <a:solidFill>
                  <a:srgbClr val="DCE5EE"/>
                </a:solidFill>
                <a:latin typeface="Calibri"/>
              </a:rPr>
              <a:t>QPU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5" y="2258568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46D9E8"/>
                </a:solidFill>
                <a:latin typeface="Consolas"/>
              </a:rPr>
              <a:t>cola y job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833104" y="2103120"/>
            <a:ext cx="256032" cy="310896"/>
          </a:xfrm>
          <a:prstGeom prst="rightArrow">
            <a:avLst/>
          </a:prstGeom>
          <a:solidFill>
            <a:srgbClr val="A1B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34856" y="1691640"/>
            <a:ext cx="2514600" cy="1143000"/>
          </a:xfrm>
          <a:prstGeom prst="roundRect">
            <a:avLst>
              <a:gd name="adj" fmla="val 9600"/>
            </a:avLst>
          </a:prstGeom>
          <a:solidFill>
            <a:srgbClr val="0E1520"/>
          </a:solidFill>
          <a:ln w="12700">
            <a:solidFill>
              <a:srgbClr val="25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99448" y="1801368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900" b="1">
                <a:solidFill>
                  <a:srgbClr val="DCE5EE"/>
                </a:solidFill>
                <a:latin typeface="Calibri"/>
              </a:rPr>
              <a:t>Resultados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9448" y="2258568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46D9E8"/>
                </a:solidFill>
                <a:latin typeface="Consolas"/>
              </a:rPr>
              <a:t>counts → JSON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65376" y="292608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A1B0C2"/>
                </a:solidFill>
                <a:latin typeface="Consolas"/>
              </a:rPr>
              <a:t>transpile, nivel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27448" y="292608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A1B0C2"/>
                </a:solidFill>
                <a:latin typeface="Consolas"/>
              </a:rPr>
              <a:t>SamplerV2.run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19" y="292608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A1B0C2"/>
                </a:solidFill>
                <a:latin typeface="Consolas"/>
              </a:rPr>
              <a:t>job_id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429000"/>
            <a:ext cx="3575304" cy="1554480"/>
          </a:xfrm>
          <a:prstGeom prst="roundRect">
            <a:avLst>
              <a:gd name="adj" fmla="val 7058"/>
            </a:avLst>
          </a:prstGeom>
          <a:solidFill>
            <a:srgbClr val="0E1520"/>
          </a:solidFill>
          <a:ln w="12700">
            <a:solidFill>
              <a:srgbClr val="25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54787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1">
                <a:solidFill>
                  <a:srgbClr val="DCE5EE"/>
                </a:solidFill>
                <a:latin typeface="Consolas"/>
              </a:rPr>
              <a:t>--mode fake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977639"/>
            <a:ext cx="3154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A1B0C2"/>
                </a:solidFill>
                <a:latin typeface="Calibri"/>
              </a:rPr>
              <a:t>FakeFez local, sin red ni cuenta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526280"/>
            <a:ext cx="1082548" cy="329184"/>
          </a:xfrm>
          <a:prstGeom prst="roundRect">
            <a:avLst>
              <a:gd name="adj" fmla="val 50000"/>
            </a:avLst>
          </a:prstGeom>
          <a:solidFill>
            <a:srgbClr val="0E1520"/>
          </a:solidFill>
          <a:ln w="12700">
            <a:solidFill>
              <a:srgbClr val="46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526280"/>
            <a:ext cx="108254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46D9E8"/>
                </a:solidFill>
                <a:latin typeface="Consolas"/>
              </a:rPr>
              <a:t>probado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06824" y="3429000"/>
            <a:ext cx="3575304" cy="1554480"/>
          </a:xfrm>
          <a:prstGeom prst="roundRect">
            <a:avLst>
              <a:gd name="adj" fmla="val 7058"/>
            </a:avLst>
          </a:prstGeom>
          <a:solidFill>
            <a:srgbClr val="0E1520"/>
          </a:solidFill>
          <a:ln w="12700">
            <a:solidFill>
              <a:srgbClr val="25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35424" y="354787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1">
                <a:solidFill>
                  <a:srgbClr val="DCE5EE"/>
                </a:solidFill>
                <a:latin typeface="Consolas"/>
              </a:rPr>
              <a:t>--mode dry-run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35424" y="3977639"/>
            <a:ext cx="3154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A1B0C2"/>
                </a:solidFill>
                <a:latin typeface="Calibri"/>
              </a:rPr>
              <a:t>consulta el backend y transpila, no envía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35424" y="4526280"/>
            <a:ext cx="2405379" cy="329184"/>
          </a:xfrm>
          <a:prstGeom prst="roundRect">
            <a:avLst>
              <a:gd name="adj" fmla="val 50000"/>
            </a:avLst>
          </a:prstGeom>
          <a:solidFill>
            <a:srgbClr val="0E1520"/>
          </a:solidFill>
          <a:ln w="12700">
            <a:solidFill>
              <a:srgbClr val="F0B3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35424" y="4526280"/>
            <a:ext cx="24053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F0B357"/>
                </a:solidFill>
                <a:latin typeface="Consolas"/>
              </a:rPr>
              <a:t>pendiente de cuenta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65008" y="3429000"/>
            <a:ext cx="3575304" cy="1554480"/>
          </a:xfrm>
          <a:prstGeom prst="roundRect">
            <a:avLst>
              <a:gd name="adj" fmla="val 7058"/>
            </a:avLst>
          </a:prstGeom>
          <a:solidFill>
            <a:srgbClr val="0E1520"/>
          </a:solidFill>
          <a:ln w="12700">
            <a:solidFill>
              <a:srgbClr val="25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93608" y="354787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1">
                <a:solidFill>
                  <a:srgbClr val="DCE5EE"/>
                </a:solidFill>
                <a:latin typeface="Consolas"/>
              </a:rPr>
              <a:t>--mode ibm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93608" y="3977639"/>
            <a:ext cx="3154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A1B0C2"/>
                </a:solidFill>
                <a:latin typeface="Calibri"/>
              </a:rPr>
              <a:t>envía un job a la QPU, consume cuota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93608" y="4526280"/>
            <a:ext cx="2405379" cy="329184"/>
          </a:xfrm>
          <a:prstGeom prst="roundRect">
            <a:avLst>
              <a:gd name="adj" fmla="val 50000"/>
            </a:avLst>
          </a:prstGeom>
          <a:solidFill>
            <a:srgbClr val="0E1520"/>
          </a:solidFill>
          <a:ln w="12700">
            <a:solidFill>
              <a:srgbClr val="F0B3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93608" y="4526280"/>
            <a:ext cx="24053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F0B357"/>
                </a:solidFill>
                <a:latin typeface="Consolas"/>
              </a:rPr>
              <a:t>pendiente de cuenta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5193792"/>
            <a:ext cx="11091672" cy="548640"/>
          </a:xfrm>
          <a:prstGeom prst="roundRect">
            <a:avLst>
              <a:gd name="adj" fmla="val 20000"/>
            </a:avLst>
          </a:prstGeom>
          <a:solidFill>
            <a:srgbClr val="0E1520"/>
          </a:solidFill>
          <a:ln w="12700">
            <a:solidFill>
              <a:srgbClr val="25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5193792"/>
            <a:ext cx="106984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46D9E8"/>
                </a:solidFill>
                <a:latin typeface="Consolas"/>
              </a:rPr>
              <a:t>python -m scripts.run_ibm_hardware --mode ibm --n-qubits 3 --marked 101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897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F0B357"/>
                </a:solidFill>
                <a:latin typeface="Calibri"/>
              </a:rPr>
              <a:t>Honestidad: el CLI está listo y probado con dobles locales; aún no enviamos ningún job real.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46D9E8"/>
                </a:solidFill>
                <a:latin typeface="Consolas"/>
              </a:rPr>
              <a:t>|13&gt;  Hardware, seguridad y validación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600" b="1">
                <a:solidFill>
                  <a:srgbClr val="DCE5EE"/>
                </a:solidFill>
                <a:latin typeface="Calibri"/>
              </a:rPr>
              <a:t>Contraseñas y criptografía poscuántica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A1B0C2"/>
                </a:solidFill>
                <a:latin typeface="Calibri"/>
              </a:rPr>
              <a:t>QubitGuard · Qiskit Fall Fest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1512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A1B0C2"/>
                </a:solidFill>
                <a:latin typeface="Consolas"/>
              </a:rPr>
              <a:t>13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6420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46D9E8"/>
                </a:solidFill>
                <a:latin typeface="Consolas"/>
              </a:rPr>
              <a:t>Grover: contraseñas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32200" y="1627632"/>
            <a:ext cx="1192784" cy="384048"/>
          </a:xfrm>
          <a:prstGeom prst="roundRect">
            <a:avLst>
              <a:gd name="adj" fmla="val 50000"/>
            </a:avLst>
          </a:prstGeom>
          <a:solidFill>
            <a:srgbClr val="0E1520"/>
          </a:solidFill>
          <a:ln w="12700">
            <a:solidFill>
              <a:srgbClr val="46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32200" y="1627632"/>
            <a:ext cx="11927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46D9E8"/>
                </a:solidFill>
                <a:latin typeface="Consolas"/>
              </a:rPr>
              <a:t>entropía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4712" y="1627632"/>
            <a:ext cx="972311" cy="384048"/>
          </a:xfrm>
          <a:prstGeom prst="roundRect">
            <a:avLst>
              <a:gd name="adj" fmla="val 50000"/>
            </a:avLst>
          </a:prstGeom>
          <a:solidFill>
            <a:srgbClr val="0E1520"/>
          </a:solidFill>
          <a:ln w="12700">
            <a:solidFill>
              <a:srgbClr val="46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4712" y="1627632"/>
            <a:ext cx="9723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46D9E8"/>
                </a:solidFill>
                <a:latin typeface="Consolas"/>
              </a:rPr>
              <a:t>CSPRNG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57400"/>
            <a:ext cx="535838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600" b="1">
                <a:solidFill>
                  <a:srgbClr val="46D9E8"/>
                </a:solidFill>
                <a:latin typeface="Consolas"/>
              </a:rPr>
              <a:t>128 → 64 bits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834640"/>
            <a:ext cx="5358384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>
                <a:solidFill>
                  <a:srgbClr val="DCE5EE"/>
                </a:solidFill>
                <a:latin typeface="Calibri"/>
              </a:rPr>
              <a:t>Grover </a:t>
            </a:r>
            <a:r>
              <a:rPr sz="1800" b="1">
                <a:solidFill>
                  <a:srgbClr val="46D9E8"/>
                </a:solidFill>
                <a:latin typeface="Calibri"/>
              </a:rPr>
              <a:t>reduce a la mitad</a:t>
            </a:r>
            <a:r>
              <a:rPr sz="1800" b="0">
                <a:solidFill>
                  <a:srgbClr val="DCE5EE"/>
                </a:solidFill>
                <a:latin typeface="Calibri"/>
              </a:rPr>
              <a:t> los bits efectivos. Frase de 2072 palabras: 11,02 bits por palabra.</a:t>
            </a:r>
          </a:p>
        </p:txBody>
      </p:sp>
      <p:pic>
        <p:nvPicPr>
          <p:cNvPr id="13" name="Picture 12" descr="s13_generad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794760"/>
            <a:ext cx="5358384" cy="1889886"/>
          </a:xfrm>
          <a:prstGeom prst="rect">
            <a:avLst/>
          </a:prstGeom>
          <a:ln w="12700">
            <a:solidFill>
              <a:srgbClr val="253246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548640" y="5757798"/>
            <a:ext cx="535838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A1B0C2"/>
                </a:solidFill>
                <a:latin typeface="Calibri"/>
              </a:rPr>
              <a:t>Generador en el navegador (CSPRNG)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166420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EA6BBD"/>
                </a:solidFill>
                <a:latin typeface="Consolas"/>
              </a:rPr>
              <a:t>Shor: clave pública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85960" y="1627632"/>
            <a:ext cx="972311" cy="384048"/>
          </a:xfrm>
          <a:prstGeom prst="roundRect">
            <a:avLst>
              <a:gd name="adj" fmla="val 50000"/>
            </a:avLst>
          </a:prstGeom>
          <a:solidFill>
            <a:srgbClr val="0E1520"/>
          </a:solidFill>
          <a:ln w="12700">
            <a:solidFill>
              <a:srgbClr val="EA6B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85960" y="1627632"/>
            <a:ext cx="9723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EA6BBD"/>
                </a:solidFill>
                <a:latin typeface="Consolas"/>
              </a:rPr>
              <a:t>ML-KEM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668000" y="1627632"/>
            <a:ext cx="972311" cy="384048"/>
          </a:xfrm>
          <a:prstGeom prst="roundRect">
            <a:avLst>
              <a:gd name="adj" fmla="val 50000"/>
            </a:avLst>
          </a:prstGeom>
          <a:solidFill>
            <a:srgbClr val="0E1520"/>
          </a:solidFill>
          <a:ln w="12700">
            <a:solidFill>
              <a:srgbClr val="EA6B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68000" y="1627632"/>
            <a:ext cx="9723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EA6BBD"/>
                </a:solidFill>
                <a:latin typeface="Consolas"/>
              </a:rPr>
              <a:t>ML-DSA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1928" y="2057400"/>
            <a:ext cx="535838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600" b="1">
                <a:solidFill>
                  <a:srgbClr val="EA6BBD"/>
                </a:solidFill>
                <a:latin typeface="Consolas"/>
              </a:rPr>
              <a:t>RSA → ML-KEM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1928" y="2834640"/>
            <a:ext cx="5358384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>
                <a:solidFill>
                  <a:srgbClr val="DCE5EE"/>
                </a:solidFill>
                <a:latin typeface="Calibri"/>
              </a:rPr>
              <a:t>Shor rompe </a:t>
            </a:r>
            <a:r>
              <a:rPr sz="1800" b="1">
                <a:solidFill>
                  <a:srgbClr val="EA6BBD"/>
                </a:solidFill>
                <a:latin typeface="Calibri"/>
              </a:rPr>
              <a:t>RSA y ECC</a:t>
            </a:r>
            <a:r>
              <a:rPr sz="1800" b="0">
                <a:solidFill>
                  <a:srgbClr val="DCE5EE"/>
                </a:solidFill>
                <a:latin typeface="Calibri"/>
              </a:rPr>
              <a:t>. NIST ya publicó reemplazos clásicos: </a:t>
            </a:r>
            <a:r>
              <a:rPr sz="1800" b="1">
                <a:solidFill>
                  <a:srgbClr val="EA6BBD"/>
                </a:solidFill>
                <a:latin typeface="Calibri"/>
              </a:rPr>
              <a:t>ML-KEM</a:t>
            </a:r>
            <a:r>
              <a:rPr sz="1800" b="0">
                <a:solidFill>
                  <a:srgbClr val="DCE5EE"/>
                </a:solidFill>
                <a:latin typeface="Calibri"/>
              </a:rPr>
              <a:t> y </a:t>
            </a:r>
            <a:r>
              <a:rPr sz="1800" b="1">
                <a:solidFill>
                  <a:srgbClr val="EA6BBD"/>
                </a:solidFill>
                <a:latin typeface="Calibri"/>
              </a:rPr>
              <a:t>ML-DSA</a:t>
            </a:r>
            <a:r>
              <a:rPr sz="1800" b="0">
                <a:solidFill>
                  <a:srgbClr val="DCE5EE"/>
                </a:solidFill>
                <a:latin typeface="Calibri"/>
              </a:rPr>
              <a:t>.</a:t>
            </a:r>
          </a:p>
        </p:txBody>
      </p:sp>
      <p:pic>
        <p:nvPicPr>
          <p:cNvPr id="22" name="Picture 21" descr="s13_pqc_ni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1928" y="3794760"/>
            <a:ext cx="5358384" cy="1832763"/>
          </a:xfrm>
          <a:prstGeom prst="rect">
            <a:avLst/>
          </a:prstGeom>
          <a:ln w="12700">
            <a:solidFill>
              <a:srgbClr val="253246"/>
            </a:solidFill>
          </a:ln>
        </p:spPr>
      </p:pic>
      <p:sp>
        <p:nvSpPr>
          <p:cNvPr id="23" name="TextBox 22"/>
          <p:cNvSpPr txBox="1"/>
          <p:nvPr/>
        </p:nvSpPr>
        <p:spPr>
          <a:xfrm>
            <a:off x="6281928" y="5700675"/>
            <a:ext cx="535838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A1B0C2"/>
                </a:solidFill>
                <a:latin typeface="Calibri"/>
              </a:rPr>
              <a:t>Tarjeta de la sección Poscuántica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46D9E8"/>
                </a:solidFill>
                <a:latin typeface="Consolas"/>
              </a:rPr>
              <a:t>|14&gt;  Hardware, seguridad y validación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600" b="1">
                <a:solidFill>
                  <a:srgbClr val="DCE5EE"/>
                </a:solidFill>
                <a:latin typeface="Calibri"/>
              </a:rPr>
              <a:t>Arquitectura y seguridad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A1B0C2"/>
                </a:solidFill>
                <a:latin typeface="Calibri"/>
              </a:rPr>
              <a:t>QubitGuard · Qiskit Fall Fest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1512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A1B0C2"/>
                </a:solidFill>
                <a:latin typeface="Consolas"/>
              </a:rPr>
              <a:t>14 /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3063240" cy="1828800"/>
          </a:xfrm>
          <a:prstGeom prst="roundRect">
            <a:avLst>
              <a:gd name="adj" fmla="val 6000"/>
            </a:avLst>
          </a:prstGeom>
          <a:solidFill>
            <a:srgbClr val="0E1520"/>
          </a:solidFill>
          <a:ln w="12700">
            <a:solidFill>
              <a:srgbClr val="25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10512"/>
            <a:ext cx="2606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1">
                <a:solidFill>
                  <a:srgbClr val="DCE5EE"/>
                </a:solidFill>
                <a:latin typeface="Calibri"/>
              </a:rPr>
              <a:t>Navegador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58568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46D9E8"/>
                </a:solidFill>
                <a:latin typeface="Consolas"/>
              </a:rPr>
              <a:t>TypeScript + SVG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70048"/>
            <a:ext cx="26060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A1B0C2"/>
                </a:solidFill>
                <a:latin typeface="Calibri"/>
              </a:rPr>
              <a:t>contraseñas, explorador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A1B0C2"/>
                </a:solidFill>
                <a:latin typeface="Calibri"/>
              </a:rPr>
              <a:t>y progreso, en local</a:t>
            </a:r>
          </a:p>
        </p:txBody>
      </p:sp>
      <p:sp>
        <p:nvSpPr>
          <p:cNvPr id="10" name="Left-Right Arrow 9"/>
          <p:cNvSpPr/>
          <p:nvPr/>
        </p:nvSpPr>
        <p:spPr>
          <a:xfrm>
            <a:off x="3767328" y="2450592"/>
            <a:ext cx="640080" cy="329184"/>
          </a:xfrm>
          <a:prstGeom prst="leftRightArrow">
            <a:avLst/>
          </a:prstGeom>
          <a:solidFill>
            <a:srgbClr val="A1B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2834640"/>
            <a:ext cx="9509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A1B0C2"/>
                </a:solidFill>
                <a:latin typeface="Consolas"/>
              </a:rPr>
              <a:t>JSON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62856" y="1691640"/>
            <a:ext cx="3063240" cy="1828800"/>
          </a:xfrm>
          <a:prstGeom prst="roundRect">
            <a:avLst>
              <a:gd name="adj" fmla="val 6000"/>
            </a:avLst>
          </a:prstGeom>
          <a:solidFill>
            <a:srgbClr val="0E1520"/>
          </a:solidFill>
          <a:ln w="12700">
            <a:solidFill>
              <a:srgbClr val="46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91456" y="1810512"/>
            <a:ext cx="2606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1">
                <a:solidFill>
                  <a:srgbClr val="DCE5EE"/>
                </a:solidFill>
                <a:latin typeface="Calibri"/>
              </a:rPr>
              <a:t>FastAPI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91456" y="2258568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46D9E8"/>
                </a:solidFill>
                <a:latin typeface="Consolas"/>
              </a:rPr>
              <a:t>un solo proceso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91456" y="2670048"/>
            <a:ext cx="26060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A1B0C2"/>
                </a:solidFill>
                <a:latin typeface="Calibri"/>
              </a:rPr>
              <a:t>API + web, validación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A1B0C2"/>
                </a:solidFill>
                <a:latin typeface="Calibri"/>
              </a:rPr>
              <a:t>y cabeceras CSP</a:t>
            </a:r>
          </a:p>
        </p:txBody>
      </p:sp>
      <p:sp>
        <p:nvSpPr>
          <p:cNvPr id="16" name="Left-Right Arrow 15"/>
          <p:cNvSpPr/>
          <p:nvPr/>
        </p:nvSpPr>
        <p:spPr>
          <a:xfrm>
            <a:off x="7781544" y="2450592"/>
            <a:ext cx="640080" cy="329184"/>
          </a:xfrm>
          <a:prstGeom prst="leftRightArrow">
            <a:avLst/>
          </a:prstGeom>
          <a:solidFill>
            <a:srgbClr val="A1B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6096" y="2834640"/>
            <a:ext cx="9509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A1B0C2"/>
                </a:solidFill>
                <a:latin typeface="Consolas"/>
              </a:rPr>
              <a:t>JSON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7072" y="1691640"/>
            <a:ext cx="3063240" cy="1828800"/>
          </a:xfrm>
          <a:prstGeom prst="roundRect">
            <a:avLst>
              <a:gd name="adj" fmla="val 6000"/>
            </a:avLst>
          </a:prstGeom>
          <a:solidFill>
            <a:srgbClr val="0E1520"/>
          </a:solidFill>
          <a:ln w="12700">
            <a:solidFill>
              <a:srgbClr val="25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05672" y="1810512"/>
            <a:ext cx="2606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1">
                <a:solidFill>
                  <a:srgbClr val="DCE5EE"/>
                </a:solidFill>
                <a:latin typeface="Calibri"/>
              </a:rPr>
              <a:t>Qiskit / Aer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05672" y="2258568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46D9E8"/>
                </a:solidFill>
                <a:latin typeface="Consolas"/>
              </a:rPr>
              <a:t>FakeFez · NumPy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05672" y="2670048"/>
            <a:ext cx="26060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A1B0C2"/>
                </a:solidFill>
                <a:latin typeface="Calibri"/>
              </a:rPr>
              <a:t>circuitos y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A1B0C2"/>
                </a:solidFill>
                <a:latin typeface="Calibri"/>
              </a:rPr>
              <a:t>Monte Carlo locales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108692" y="3520440"/>
            <a:ext cx="0" cy="320040"/>
          </a:xfrm>
          <a:prstGeom prst="line">
            <a:avLst/>
          </a:prstGeom>
          <a:ln>
            <a:solidFill>
              <a:srgbClr val="A1B0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577072" y="3840480"/>
            <a:ext cx="3063240" cy="685800"/>
          </a:xfrm>
          <a:prstGeom prst="roundRect">
            <a:avLst>
              <a:gd name="adj" fmla="val 16000"/>
            </a:avLst>
          </a:prstGeom>
          <a:noFill/>
          <a:ln w="12700">
            <a:solidFill>
              <a:srgbClr val="A1B0C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05672" y="3840480"/>
            <a:ext cx="26060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A1B0C2"/>
                </a:solidFill>
                <a:latin typeface="Calibri"/>
              </a:rPr>
              <a:t>IBM Quantum: solo el CLI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297680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A1B0C2"/>
                </a:solidFill>
                <a:latin typeface="Calibri"/>
              </a:rPr>
              <a:t>Lo que ve el estudiante en la sección de contraseñas:</a:t>
            </a:r>
          </a:p>
        </p:txBody>
      </p:sp>
      <p:pic>
        <p:nvPicPr>
          <p:cNvPr id="26" name="Picture 25" descr="s14_privacid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709160"/>
            <a:ext cx="11091672" cy="513719"/>
          </a:xfrm>
          <a:prstGeom prst="rect">
            <a:avLst/>
          </a:prstGeom>
          <a:ln w="12700">
            <a:solidFill>
              <a:srgbClr val="253246"/>
            </a:solidFill>
          </a:ln>
        </p:spPr>
      </p:pic>
      <p:sp>
        <p:nvSpPr>
          <p:cNvPr id="27" name="Rounded Rectangle 26"/>
          <p:cNvSpPr/>
          <p:nvPr/>
        </p:nvSpPr>
        <p:spPr>
          <a:xfrm>
            <a:off x="548640" y="5486400"/>
            <a:ext cx="1082548" cy="384048"/>
          </a:xfrm>
          <a:prstGeom prst="roundRect">
            <a:avLst>
              <a:gd name="adj" fmla="val 50000"/>
            </a:avLst>
          </a:prstGeom>
          <a:solidFill>
            <a:srgbClr val="0E1520"/>
          </a:solidFill>
          <a:ln w="12700">
            <a:solidFill>
              <a:srgbClr val="46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486400"/>
            <a:ext cx="10825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46D9E8"/>
                </a:solidFill>
                <a:latin typeface="Consolas"/>
              </a:rPr>
              <a:t>FastAPI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759204" y="5486400"/>
            <a:ext cx="1413256" cy="384048"/>
          </a:xfrm>
          <a:prstGeom prst="roundRect">
            <a:avLst>
              <a:gd name="adj" fmla="val 50000"/>
            </a:avLst>
          </a:prstGeom>
          <a:solidFill>
            <a:srgbClr val="0E1520"/>
          </a:solidFill>
          <a:ln w="12700">
            <a:solidFill>
              <a:srgbClr val="46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59204" y="5486400"/>
            <a:ext cx="141325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46D9E8"/>
                </a:solidFill>
                <a:latin typeface="Consolas"/>
              </a:rPr>
              <a:t>TypeScript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00476" y="5486400"/>
            <a:ext cx="2736088" cy="384048"/>
          </a:xfrm>
          <a:prstGeom prst="roundRect">
            <a:avLst>
              <a:gd name="adj" fmla="val 50000"/>
            </a:avLst>
          </a:prstGeom>
          <a:solidFill>
            <a:srgbClr val="0E1520"/>
          </a:solidFill>
          <a:ln w="12700">
            <a:solidFill>
              <a:srgbClr val="46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00476" y="5486400"/>
            <a:ext cx="273608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46D9E8"/>
                </a:solidFill>
                <a:latin typeface="Consolas"/>
              </a:rPr>
              <a:t>CSP default-src 'self'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64580" y="5486400"/>
            <a:ext cx="1413256" cy="384048"/>
          </a:xfrm>
          <a:prstGeom prst="roundRect">
            <a:avLst>
              <a:gd name="adj" fmla="val 50000"/>
            </a:avLst>
          </a:prstGeom>
          <a:solidFill>
            <a:srgbClr val="0E1520"/>
          </a:solidFill>
          <a:ln w="12700">
            <a:solidFill>
              <a:srgbClr val="46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64580" y="5486400"/>
            <a:ext cx="141325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46D9E8"/>
                </a:solidFill>
                <a:latin typeface="Consolas"/>
              </a:rPr>
              <a:t>privacidad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46D9E8"/>
                </a:solidFill>
                <a:latin typeface="Consolas"/>
              </a:rPr>
              <a:t>|15&gt;  Hardware, seguridad y validación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600" b="1">
                <a:solidFill>
                  <a:srgbClr val="DCE5EE"/>
                </a:solidFill>
                <a:latin typeface="Calibri"/>
              </a:rPr>
              <a:t>Validación y limitaciones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A1B0C2"/>
                </a:solidFill>
                <a:latin typeface="Calibri"/>
              </a:rPr>
              <a:t>QubitGuard · Qiskit Fall Fest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1512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A1B0C2"/>
                </a:solidFill>
                <a:latin typeface="Consolas"/>
              </a:rPr>
              <a:t>15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64208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46D9E8"/>
                </a:solidFill>
                <a:latin typeface="Consolas"/>
              </a:rPr>
              <a:t>Medido y reproducible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1097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5400" b="1">
                <a:solidFill>
                  <a:srgbClr val="46D9E8"/>
                </a:solidFill>
                <a:latin typeface="Consolas"/>
              </a:rPr>
              <a:t>72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19" y="2176272"/>
            <a:ext cx="1463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A1B0C2"/>
                </a:solidFill>
                <a:latin typeface="Calibri"/>
              </a:rPr>
              <a:t>pruebas Python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A1B0C2"/>
                </a:solidFill>
                <a:latin typeface="Calibri"/>
              </a:rPr>
              <a:t>(pytest)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2011680"/>
            <a:ext cx="1097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5400" b="1">
                <a:solidFill>
                  <a:srgbClr val="46D9E8"/>
                </a:solidFill>
                <a:latin typeface="Consolas"/>
              </a:rPr>
              <a:t>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2176272"/>
            <a:ext cx="1463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A1B0C2"/>
                </a:solidFill>
                <a:latin typeface="Calibri"/>
              </a:rPr>
              <a:t>pruebas de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A1B0C2"/>
                </a:solidFill>
                <a:latin typeface="Calibri"/>
              </a:rPr>
              <a:t>frontend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154680"/>
            <a:ext cx="5349240" cy="2331720"/>
          </a:xfrm>
          <a:prstGeom prst="roundRect">
            <a:avLst>
              <a:gd name="adj" fmla="val 4705"/>
            </a:avLst>
          </a:prstGeom>
          <a:solidFill>
            <a:srgbClr val="0E1520"/>
          </a:solidFill>
          <a:ln w="12700">
            <a:solidFill>
              <a:srgbClr val="25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310128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>
                <a:solidFill>
                  <a:srgbClr val="DCE5EE"/>
                </a:solidFill>
                <a:latin typeface="Calibri"/>
              </a:rPr>
              <a:t>Grover n=4, k=3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3310128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>
                <a:solidFill>
                  <a:srgbClr val="46D9E8"/>
                </a:solidFill>
                <a:latin typeface="Consolas"/>
              </a:rPr>
              <a:t>0,953 vs 0,961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7240" y="3877056"/>
            <a:ext cx="4892040" cy="0"/>
          </a:xfrm>
          <a:prstGeom prst="line">
            <a:avLst/>
          </a:prstGeom>
          <a:ln>
            <a:solidFill>
              <a:srgbClr val="2532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77240" y="402336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>
                <a:solidFill>
                  <a:srgbClr val="DCE5EE"/>
                </a:solidFill>
                <a:latin typeface="Calibri"/>
              </a:rPr>
              <a:t>Curva vs fórmula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402336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>
                <a:solidFill>
                  <a:srgbClr val="46D9E8"/>
                </a:solidFill>
                <a:latin typeface="Consolas"/>
              </a:rPr>
              <a:t>error 6,15·10⁻¹⁴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77240" y="4590288"/>
            <a:ext cx="4892040" cy="0"/>
          </a:xfrm>
          <a:prstGeom prst="line">
            <a:avLst/>
          </a:prstGeom>
          <a:ln>
            <a:solidFill>
              <a:srgbClr val="2532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77240" y="4736592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>
                <a:solidFill>
                  <a:srgbClr val="DCE5EE"/>
                </a:solidFill>
                <a:latin typeface="Calibri"/>
              </a:rPr>
              <a:t>Monte Carlo 10 bits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4736592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>
                <a:solidFill>
                  <a:srgbClr val="46D9E8"/>
                </a:solidFill>
                <a:latin typeface="Consolas"/>
              </a:rPr>
              <a:t>513,3 vs 512,5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1072" y="1664208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F0B357"/>
                </a:solidFill>
                <a:latin typeface="Consolas"/>
              </a:rPr>
              <a:t>Lo que no demostramos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91072" y="2176272"/>
            <a:ext cx="100584" cy="100584"/>
          </a:xfrm>
          <a:prstGeom prst="rect">
            <a:avLst/>
          </a:prstGeom>
          <a:solidFill>
            <a:srgbClr val="F0B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65392" y="2057400"/>
            <a:ext cx="5074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>
                <a:solidFill>
                  <a:srgbClr val="DCE5EE"/>
                </a:solidFill>
                <a:latin typeface="Calibri"/>
              </a:rPr>
              <a:t>Sin hardware real de IBM: el CLI está listo, 0 jobs enviados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91072" y="3044952"/>
            <a:ext cx="100584" cy="100584"/>
          </a:xfrm>
          <a:prstGeom prst="rect">
            <a:avLst/>
          </a:prstGeom>
          <a:solidFill>
            <a:srgbClr val="F0B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65392" y="2926080"/>
            <a:ext cx="5074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>
                <a:solidFill>
                  <a:srgbClr val="DCE5EE"/>
                </a:solidFill>
                <a:latin typeface="Calibri"/>
              </a:rPr>
              <a:t>Sin piloto con estudiantes: no afirmamos mejoras de aprendizaje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91072" y="3913632"/>
            <a:ext cx="100584" cy="100584"/>
          </a:xfrm>
          <a:prstGeom prst="rect">
            <a:avLst/>
          </a:prstGeom>
          <a:solidFill>
            <a:srgbClr val="F0B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65392" y="3794760"/>
            <a:ext cx="5074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>
                <a:solidFill>
                  <a:srgbClr val="DCE5EE"/>
                </a:solidFill>
                <a:latin typeface="Calibri"/>
              </a:rPr>
              <a:t>El oráculo conoce la respuesta: no rompe contraseñas reales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91072" y="4782312"/>
            <a:ext cx="100584" cy="100584"/>
          </a:xfrm>
          <a:prstGeom prst="rect">
            <a:avLst/>
          </a:prstGeom>
          <a:solidFill>
            <a:srgbClr val="F0B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65392" y="4663440"/>
            <a:ext cx="5074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>
                <a:solidFill>
                  <a:srgbClr val="DCE5EE"/>
                </a:solidFill>
                <a:latin typeface="Calibri"/>
              </a:rPr>
              <a:t>Ventaja cuadrática, no exponencial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760720"/>
            <a:ext cx="1633728" cy="384048"/>
          </a:xfrm>
          <a:prstGeom prst="roundRect">
            <a:avLst>
              <a:gd name="adj" fmla="val 50000"/>
            </a:avLst>
          </a:prstGeom>
          <a:solidFill>
            <a:srgbClr val="0E1520"/>
          </a:solidFill>
          <a:ln w="12700">
            <a:solidFill>
              <a:srgbClr val="46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760720"/>
            <a:ext cx="163372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46D9E8"/>
                </a:solidFill>
                <a:latin typeface="Consolas"/>
              </a:rPr>
              <a:t>reproducible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310384" y="5760720"/>
            <a:ext cx="1413256" cy="384048"/>
          </a:xfrm>
          <a:prstGeom prst="roundRect">
            <a:avLst>
              <a:gd name="adj" fmla="val 50000"/>
            </a:avLst>
          </a:prstGeom>
          <a:solidFill>
            <a:srgbClr val="0E1520"/>
          </a:solidFill>
          <a:ln w="12700">
            <a:solidFill>
              <a:srgbClr val="46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10384" y="5760720"/>
            <a:ext cx="141325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46D9E8"/>
                </a:solidFill>
                <a:latin typeface="Consolas"/>
              </a:rPr>
              <a:t>honestidad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851656" y="5760720"/>
            <a:ext cx="1082548" cy="384048"/>
          </a:xfrm>
          <a:prstGeom prst="roundRect">
            <a:avLst>
              <a:gd name="adj" fmla="val 50000"/>
            </a:avLst>
          </a:prstGeom>
          <a:solidFill>
            <a:srgbClr val="0E1520"/>
          </a:solidFill>
          <a:ln w="12700">
            <a:solidFill>
              <a:srgbClr val="46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51656" y="5760720"/>
            <a:ext cx="10825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46D9E8"/>
                </a:solidFill>
                <a:latin typeface="Consolas"/>
              </a:rPr>
              <a:t>límites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46D9E8"/>
                </a:solidFill>
                <a:latin typeface="Consolas"/>
              </a:rPr>
              <a:t>|16&gt;  Cierre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600" b="1">
                <a:solidFill>
                  <a:srgbClr val="DCE5EE"/>
                </a:solidFill>
                <a:latin typeface="Calibri"/>
              </a:rPr>
              <a:t>Impacto EdTech y 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A1B0C2"/>
                </a:solidFill>
                <a:latin typeface="Calibri"/>
              </a:rPr>
              <a:t>QubitGuard · Qiskit Fall Fest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1512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A1B0C2"/>
                </a:solidFill>
                <a:latin typeface="Consolas"/>
              </a:rPr>
              <a:t>16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2194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000" b="1">
                <a:solidFill>
                  <a:srgbClr val="46D9E8"/>
                </a:solidFill>
                <a:latin typeface="Consolas"/>
              </a:rPr>
              <a:t>14+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1801368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A1B0C2"/>
                </a:solidFill>
                <a:latin typeface="Calibri"/>
              </a:rPr>
              <a:t>años: no exige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A1B0C2"/>
                </a:solidFill>
                <a:latin typeface="Calibri"/>
              </a:rPr>
              <a:t>álgebra lineal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98648"/>
            <a:ext cx="2194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000" b="1">
                <a:solidFill>
                  <a:srgbClr val="46D9E8"/>
                </a:solidFill>
                <a:latin typeface="Consolas"/>
              </a:rPr>
              <a:t>3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3008376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A1B0C2"/>
                </a:solidFill>
                <a:latin typeface="Calibri"/>
              </a:rPr>
              <a:t>al día: reto,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A1B0C2"/>
                </a:solidFill>
                <a:latin typeface="Calibri"/>
              </a:rPr>
              <a:t>predicción y circuito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05656"/>
            <a:ext cx="2194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000" b="1">
                <a:solidFill>
                  <a:srgbClr val="46D9E8"/>
                </a:solidFill>
                <a:latin typeface="Consolas"/>
              </a:rPr>
              <a:t>racha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4215384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A1B0C2"/>
                </a:solidFill>
                <a:latin typeface="Calibri"/>
              </a:rPr>
              <a:t>XP y niveles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A1B0C2"/>
                </a:solidFill>
                <a:latin typeface="Calibri"/>
              </a:rPr>
              <a:t>para volver</a:t>
            </a:r>
          </a:p>
        </p:txBody>
      </p:sp>
      <p:pic>
        <p:nvPicPr>
          <p:cNvPr id="12" name="Picture 11" descr="s16_reto_diar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737360"/>
            <a:ext cx="6519672" cy="2215529"/>
          </a:xfrm>
          <a:prstGeom prst="rect">
            <a:avLst/>
          </a:prstGeom>
          <a:ln w="12700">
            <a:solidFill>
              <a:srgbClr val="253246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5120640" y="4026041"/>
            <a:ext cx="6519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A1B0C2"/>
                </a:solidFill>
                <a:latin typeface="Calibri"/>
              </a:rPr>
              <a:t>Reto diario: una pregunta nueva cada día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44348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DCE5EE"/>
                </a:solidFill>
                <a:latin typeface="Calibri"/>
              </a:rPr>
              <a:t>Próximos pasos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4846320"/>
            <a:ext cx="320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>
                <a:solidFill>
                  <a:srgbClr val="46D9E8"/>
                </a:solidFill>
                <a:latin typeface="Consola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13248" y="484632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>
                <a:solidFill>
                  <a:srgbClr val="DCE5EE"/>
                </a:solidFill>
                <a:latin typeface="Calibri"/>
              </a:rPr>
              <a:t>Piloto con alumnos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4846320"/>
            <a:ext cx="320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>
                <a:solidFill>
                  <a:srgbClr val="46D9E8"/>
                </a:solidFill>
                <a:latin typeface="Consola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484632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>
                <a:solidFill>
                  <a:srgbClr val="DCE5EE"/>
                </a:solidFill>
                <a:latin typeface="Calibri"/>
              </a:rPr>
              <a:t>Job real en IBM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46920" y="4846320"/>
            <a:ext cx="320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>
                <a:solidFill>
                  <a:srgbClr val="46D9E8"/>
                </a:solidFill>
                <a:latin typeface="Consola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39528" y="484632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>
                <a:solidFill>
                  <a:srgbClr val="DCE5EE"/>
                </a:solidFill>
                <a:latin typeface="Calibri"/>
              </a:rPr>
              <a:t>Uso en clase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440680"/>
            <a:ext cx="11091672" cy="713232"/>
          </a:xfrm>
          <a:prstGeom prst="roundRect">
            <a:avLst>
              <a:gd name="adj" fmla="val 15384"/>
            </a:avLst>
          </a:prstGeom>
          <a:solidFill>
            <a:srgbClr val="46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440680"/>
            <a:ext cx="106070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400" b="1">
                <a:solidFill>
                  <a:srgbClr val="06222A"/>
                </a:solidFill>
                <a:latin typeface="Calibri"/>
              </a:rPr>
              <a:t>Pruébalo: predice antes de ejecutar.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